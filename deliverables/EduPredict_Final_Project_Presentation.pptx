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faculty members. Today, I am presenting EduPredict, a complete classical machine learning framework implemented entirely from scratch in pure Python. The objective of this 7th-semester PBL project is to demystify black-box ML algorithms by constructing mathematical foundations, optimizers, estimators, and evaluation metrics from first principles to predict student performance and academic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outline both the domain problem and the pedagogical motivation. In secondary schools, waiting for preliminary exam grades often means intervening too late. Our goal is early prediction before exam marks exist. Simultaneously, our engineering challenge is to implement every single component from scratch—providing 100% transparent algorithmic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introduce the UCI dataset and our dual-task formulation. A critical design decision is the strict exclusion of G1 and G2. In many naive student projects, G1 and G2 are fed into the model, producing artificially high R2 values exceeding 0.80. In reality, that is temporal data leakage. We enforce early intervention by predicting final outcomes before intermediate grades exist.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defines our strict architectural boundary. We implemented every layer of the ML pipeline from first principles. Notice that our AST compliance scanner verifies that zero prohibited libraries are imported anywhere in the core package. Matplotlib and Streamlit are used strictly for visual rendering and presentation, with all underlying calculations handled by our own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our leak-free preprocessing pipeline. We convert 17 categorical features into one-hot binary indicators with unseen-category robustness. Combined with 13 numerical attributes, we operate on 40 feature dimensions. Crucially, all imputer means and scaler variances are fitted strictly on the training partition.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Custom Linear Regression. We implement two solvers: closed-form Normal Equation and iterative Gradient Descent. A key discovery during our audit was that the Normal Equation regularization diagonal must be scaled by N to match the gradient descent MSE normalization. When scaled consistently, both solvers find the exact same weight vector down to machine precision.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our Custom KNN Classifier. We support both Euclidean and Manhattan distances, uniform and inverse-distance weighting, and deterministic tie-breaking. The figure on the right shows the overfitting curve: at k=1, the model memorizes training noise, while increasing k smooths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our Custom CART Decision Tree. We split nodes by evaluating continuous midpoint thresholds that maximize Gini Gain. As seen in the right curve, unconstrained trees overfit heavily as depth exceeds 4. Regularizing tree depth to max_depth=2 is critical for holdout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document our experimental protocol. We separate a 79-sample holdout test set before tuning any hyperparameters. All complexity curves and parameter selections were conducted on the 63-sample internal validation split. This guarantees that our reported test metrics are genuine out-of-sample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Task 1, predicting final grades without intermediate exam marks, our regularized linear model achieves MSE 15.53 and R² = +0.0600. Notice that unregularized regression had R² = -0.0992 because of feature estimation variance. Moderate L2 regularization successfully recovers predictive signal, beating the training-mean baseline.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Task 2, the majority baseline achieves 67.09% accuracy by predicting that zero students fail, which is completely useless for intervention. Our pruned Decision Tree achieves 69.62% accuracy, flags 11 out of 26 at-risk students, and achieves an ROC-AUC of 0.6161, demonstrating genuine discrimination power early in the academic semester.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EduPredict provides dual user interfaces. For batch verification, run_experiments.py runs all models and outputs formatted tables. For interactive demonstration, app.py provides a 6-tab Streamlit dashboard allowing educators to test hyperparameter combinations and perform single-student risk inference.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Software testing is an essential component of this project. We have 117 automated unit tests passing with a 100% success rate (0 skipped, 0 failures, 0 errors). Our custom AST scanner guarantees that zero third-party ML or numerical libraries exist in the codebase. Furthermore, our solver tests verify that analytical gradients and Normal Equation solutions match down to machine precision.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reflection is an important part of academic engineering. We must honestly report that predicting grades without interim exams explains about 6% of the variance. Furthermore, ethics are paramount in education: these models must trigger positive academic support, such as tutoring and mentoring, and must never be used to penalize students.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EduPredict successfully demonstrates that a complete classical machine learning framework can be implemented from first principles. We have achieved a mathematically verified, leak-free, zero-dependency educational system that provides a transparent blueprint for classical machine learning. Thank you, and I now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731520"/>
            <a:ext cx="10728655" cy="5394960"/>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9966960" cy="2926080"/>
          </a:xfrm>
          <a:prstGeom prst="rect">
            <a:avLst/>
          </a:prstGeom>
          <a:noFill/>
        </p:spPr>
        <p:txBody>
          <a:bodyPr wrap="square">
            <a:spAutoFit/>
          </a:bodyPr>
          <a:lstStyle/>
          <a:p>
            <a:pPr>
              <a:defRPr sz="1100" b="1">
                <a:solidFill>
                  <a:srgbClr val="D97706"/>
                </a:solidFill>
                <a:latin typeface="Arial"/>
              </a:defRPr>
            </a:pPr>
            <a:r>
              <a:t>7TH-SEMESTER MACHINE LEARNING LABORATORY | PROJECT-BASED LEARNING (PBL)</a:t>
            </a:r>
          </a:p>
          <a:p>
            <a:pPr>
              <a:spcBef>
                <a:spcPts val="800"/>
              </a:spcBef>
              <a:defRPr sz="2600" b="1">
                <a:solidFill>
                  <a:srgbClr val="1E3A8A"/>
                </a:solidFill>
                <a:latin typeface="Arial"/>
              </a:defRPr>
            </a:pPr>
            <a:r>
              <a:t>EduPredict: A Classical Machine Learning Framework Implemented From Scratch</a:t>
            </a:r>
          </a:p>
          <a:p>
            <a:pPr>
              <a:spcBef>
                <a:spcPts val="600"/>
              </a:spcBef>
              <a:defRPr sz="1500">
                <a:solidFill>
                  <a:srgbClr val="475569"/>
                </a:solidFill>
                <a:latin typeface="Arial"/>
              </a:defRPr>
            </a:pPr>
            <a:r>
              <a:t>Early Academic Performance and Risk Prediction on the UCI Mathematics Dataset</a:t>
            </a:r>
          </a:p>
        </p:txBody>
      </p:sp>
      <p:sp>
        <p:nvSpPr>
          <p:cNvPr id="4" name="TextBox 3"/>
          <p:cNvSpPr txBox="1"/>
          <p:nvPr/>
        </p:nvSpPr>
        <p:spPr>
          <a:xfrm>
            <a:off x="1097280" y="3931920"/>
            <a:ext cx="9966960" cy="1828800"/>
          </a:xfrm>
          <a:prstGeom prst="rect">
            <a:avLst/>
          </a:prstGeom>
          <a:noFill/>
        </p:spPr>
        <p:txBody>
          <a:bodyPr wrap="square">
            <a:spAutoFit/>
          </a:bodyPr>
          <a:lstStyle/>
          <a:p>
            <a:pPr>
              <a:defRPr sz="1100">
                <a:solidFill>
                  <a:srgbClr val="0F172A"/>
                </a:solidFill>
                <a:latin typeface="Arial"/>
              </a:defRPr>
            </a:pPr>
            <a:r>
              <a:t>Candidate Details: [Student Name]  |  Roll Number: [Roll Number / Registration ID]</a:t>
            </a:r>
            <a:br/>
            <a:r>
              <a:t>Department: [Department of Computer Science and Engineering / AI &amp; DS]</a:t>
            </a:r>
            <a:br/>
            <a:r>
              <a:t>Institution: [Institution / University Name]</a:t>
            </a:r>
            <a:br/>
            <a:r>
              <a:t>Supervisor: [Faculty Supervisor / Mentor Name, Designation]  |  Date: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CONTEXT &amp; SIGNIFICANCE</a:t>
            </a:r>
          </a:p>
          <a:p>
            <a:pPr>
              <a:defRPr sz="2200" b="1">
                <a:solidFill>
                  <a:srgbClr val="1E3A8A"/>
                </a:solidFill>
                <a:latin typeface="Arial"/>
              </a:defRPr>
            </a:pPr>
            <a:r>
              <a:t>Problem Statement &amp; Educational Motivation</a:t>
            </a:r>
          </a:p>
        </p:txBody>
      </p:sp>
      <p:sp>
        <p:nvSpPr>
          <p:cNvPr id="3" name="TextBox 2"/>
          <p:cNvSpPr txBox="1"/>
          <p:nvPr/>
        </p:nvSpPr>
        <p:spPr>
          <a:xfrm>
            <a:off x="731520" y="1371600"/>
            <a:ext cx="5120640" cy="4754880"/>
          </a:xfrm>
          <a:prstGeom prst="rect">
            <a:avLst/>
          </a:prstGeom>
          <a:noFill/>
        </p:spPr>
        <p:txBody>
          <a:bodyPr wrap="square">
            <a:spAutoFit/>
          </a:bodyPr>
          <a:lstStyle/>
          <a:p>
            <a:pPr>
              <a:defRPr b="1" sz="1400">
                <a:solidFill>
                  <a:srgbClr val="1E3A8A"/>
                </a:solidFill>
              </a:defRPr>
            </a:pPr>
            <a:r>
              <a:t>The Real-World Educational Problem:</a:t>
            </a:r>
          </a:p>
          <a:p>
            <a:pPr>
              <a:spcBef>
                <a:spcPts val="800"/>
              </a:spcBef>
              <a:defRPr sz="1200">
                <a:solidFill>
                  <a:srgbClr val="0F172A"/>
                </a:solidFill>
              </a:defRPr>
            </a:pPr>
            <a:r>
              <a:t>• Academic Failure Timing: Conventional monitoring acts reactively after preliminary exams (periods 1 and 2), leaving minimal remedial time.</a:t>
            </a:r>
          </a:p>
          <a:p>
            <a:pPr>
              <a:spcBef>
                <a:spcPts val="800"/>
              </a:spcBef>
              <a:defRPr sz="1200">
                <a:solidFill>
                  <a:srgbClr val="0F172A"/>
                </a:solidFill>
              </a:defRPr>
            </a:pPr>
            <a:r>
              <a:t>• Early Warning Need: True pedagogical intervention requires predicting academic risk early in the term using non-grade attributes.</a:t>
            </a:r>
          </a:p>
          <a:p>
            <a:pPr>
              <a:spcBef>
                <a:spcPts val="800"/>
              </a:spcBef>
              <a:defRPr sz="1200">
                <a:solidFill>
                  <a:srgbClr val="0F172A"/>
                </a:solidFill>
              </a:defRPr>
            </a:pPr>
            <a:r>
              <a:t>• Student Retention Impact: Identifying students at risk of course retention enables proactive advising, tutoring, and support.</a:t>
            </a:r>
          </a:p>
        </p:txBody>
      </p:sp>
      <p:sp>
        <p:nvSpPr>
          <p:cNvPr id="4" name="TextBox 3"/>
          <p:cNvSpPr txBox="1"/>
          <p:nvPr/>
        </p:nvSpPr>
        <p:spPr>
          <a:xfrm>
            <a:off x="6217920" y="1371600"/>
            <a:ext cx="5120640" cy="4754880"/>
          </a:xfrm>
          <a:prstGeom prst="rect">
            <a:avLst/>
          </a:prstGeom>
          <a:noFill/>
        </p:spPr>
        <p:txBody>
          <a:bodyPr wrap="square">
            <a:spAutoFit/>
          </a:bodyPr>
          <a:lstStyle/>
          <a:p>
            <a:pPr>
              <a:defRPr b="1" sz="1400">
                <a:solidFill>
                  <a:srgbClr val="1E3A8A"/>
                </a:solidFill>
              </a:defRPr>
            </a:pPr>
            <a:r>
              <a:t>The Engineering &amp; Pedagogical Challenge:</a:t>
            </a:r>
          </a:p>
          <a:p>
            <a:pPr>
              <a:spcBef>
                <a:spcPts val="800"/>
              </a:spcBef>
              <a:defRPr sz="1200">
                <a:solidFill>
                  <a:srgbClr val="0F172A"/>
                </a:solidFill>
              </a:defRPr>
            </a:pPr>
            <a:r>
              <a:t>• The Black-Box Library Trap: In typical student projects, Scikit-learn and Pandas obscure underlying optimization, linear algebra, and data leakage.</a:t>
            </a:r>
          </a:p>
          <a:p>
            <a:pPr>
              <a:spcBef>
                <a:spcPts val="800"/>
              </a:spcBef>
              <a:defRPr sz="1200">
                <a:solidFill>
                  <a:srgbClr val="0F172A"/>
                </a:solidFill>
              </a:defRPr>
            </a:pPr>
            <a:r>
              <a:t>• From-Scratch Imperative: Every matrix operation, loss derivative, distance metric, and tree partition is built without external libraries.</a:t>
            </a:r>
          </a:p>
          <a:p>
            <a:pPr>
              <a:spcBef>
                <a:spcPts val="800"/>
              </a:spcBef>
              <a:defRPr sz="1200">
                <a:solidFill>
                  <a:srgbClr val="0F172A"/>
                </a:solidFill>
              </a:defRPr>
            </a:pPr>
            <a:r>
              <a:t>• Zero Third-Party Dependency: Strictly 0% NumPy, Pandas, Scikit-learn, SciPy, or PyTorch; and zero standard math/statistics imports in core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DATA FOUNDATIONS</a:t>
            </a:r>
          </a:p>
          <a:p>
            <a:pPr>
              <a:defRPr sz="2200" b="1">
                <a:solidFill>
                  <a:srgbClr val="1E3A8A"/>
                </a:solidFill>
                <a:latin typeface="Arial"/>
              </a:defRPr>
            </a:pPr>
            <a:r>
              <a:t>Dataset &amp; Dual Task Formulation</a:t>
            </a:r>
          </a:p>
        </p:txBody>
      </p:sp>
      <p:sp>
        <p:nvSpPr>
          <p:cNvPr id="3" name="TextBox 2"/>
          <p:cNvSpPr txBox="1"/>
          <p:nvPr/>
        </p:nvSpPr>
        <p:spPr>
          <a:xfrm>
            <a:off x="731520" y="1280160"/>
            <a:ext cx="5303520" cy="4937760"/>
          </a:xfrm>
          <a:prstGeom prst="rect">
            <a:avLst/>
          </a:prstGeom>
          <a:noFill/>
        </p:spPr>
        <p:txBody>
          <a:bodyPr wrap="square">
            <a:spAutoFit/>
          </a:bodyPr>
          <a:lstStyle/>
          <a:p>
            <a:pPr>
              <a:defRPr b="1" sz="1300">
                <a:solidFill>
                  <a:srgbClr val="1E3A8A"/>
                </a:solidFill>
              </a:defRPr>
            </a:pPr>
            <a:r>
              <a:t>UCI Student Performance Benchmark (Cortez &amp; Silva, 2008):</a:t>
            </a:r>
          </a:p>
          <a:p>
            <a:pPr>
              <a:spcBef>
                <a:spcPts val="600"/>
              </a:spcBef>
              <a:defRPr sz="1100"/>
            </a:pPr>
            <a:r>
              <a:t>• Origin: Secondary public school records in the Alentejo region, Portugal.</a:t>
            </a:r>
          </a:p>
          <a:p>
            <a:pPr>
              <a:spcBef>
                <a:spcPts val="600"/>
              </a:spcBef>
              <a:defRPr sz="1100"/>
            </a:pPr>
            <a:r>
              <a:t>• Dimensions: N = 395 student instances, 33 original attributes.</a:t>
            </a:r>
          </a:p>
          <a:p>
            <a:pPr>
              <a:spcBef>
                <a:spcPts val="600"/>
              </a:spcBef>
              <a:defRPr sz="1100"/>
            </a:pPr>
            <a:r>
              <a:t>• Feature Scope: Demographic factors (school, sex, age, address, family size), parental background (Medu, Fedu, Mjob, Fjob), study habits (studytime, failures), and social lifestyle (alcohol Dalc/Walc, freetime, romantic, absences).</a:t>
            </a:r>
          </a:p>
          <a:p>
            <a:pPr>
              <a:spcBef>
                <a:spcPts val="600"/>
              </a:spcBef>
              <a:defRPr sz="1100"/>
            </a:pPr>
            <a:r>
              <a:t>• Offline CSV: Stored locally in data/student-mat.csv for reproducible execution.</a:t>
            </a:r>
          </a:p>
          <a:p>
            <a:pPr>
              <a:spcBef>
                <a:spcPts val="1000"/>
              </a:spcBef>
              <a:defRPr b="1" sz="1300">
                <a:solidFill>
                  <a:srgbClr val="1E3A8A"/>
                </a:solidFill>
              </a:defRPr>
            </a:pPr>
            <a:r>
              <a:t>Dual Task Definitions &amp; Anti-Leakage Rules:</a:t>
            </a:r>
          </a:p>
          <a:p>
            <a:pPr>
              <a:spcBef>
                <a:spcPts val="600"/>
              </a:spcBef>
              <a:defRPr sz="1100"/>
            </a:pPr>
            <a:r>
              <a:t>• Task 1 (Regression): Predict final math score G3 in [0, 20]. Intermediate scores G1 and G2 strictly EXCLUDED to eliminate trivial autoregressive leakage.</a:t>
            </a:r>
          </a:p>
          <a:p>
            <a:pPr>
              <a:spcBef>
                <a:spcPts val="600"/>
              </a:spcBef>
              <a:defRPr sz="1100"/>
            </a:pPr>
            <a:r>
              <a:t>• Task 2 (Classification): Predict academic risk: Risk = 1 if G3 &lt; 10 (official Portuguese failure threshold), else 0. Features G1, G2, and G3 strictly EXCLUDED.</a:t>
            </a:r>
          </a:p>
        </p:txBody>
      </p:sp>
      <p:pic>
        <p:nvPicPr>
          <p:cNvPr id="4" name="Picture 3" descr="feature_distributions.png"/>
          <p:cNvPicPr>
            <a:picLocks noChangeAspect="1"/>
          </p:cNvPicPr>
          <p:nvPr/>
        </p:nvPicPr>
        <p:blipFill>
          <a:blip r:embed="rId2"/>
          <a:stretch>
            <a:fillRect/>
          </a:stretch>
        </p:blipFill>
        <p:spPr>
          <a:xfrm>
            <a:off x="6217920" y="1371600"/>
            <a:ext cx="5212080" cy="1305125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SYSTEM DESIGN</a:t>
            </a:r>
          </a:p>
          <a:p>
            <a:pPr>
              <a:defRPr sz="2200" b="1">
                <a:solidFill>
                  <a:srgbClr val="1E3A8A"/>
                </a:solidFill>
                <a:latin typeface="Arial"/>
              </a:defRPr>
            </a:pPr>
            <a:r>
              <a:t>Zero-Dependency Pipeline Architecture</a:t>
            </a:r>
          </a:p>
        </p:txBody>
      </p:sp>
      <p:graphicFrame>
        <p:nvGraphicFramePr>
          <p:cNvPr id="3" name="Table 2"/>
          <p:cNvGraphicFramePr>
            <a:graphicFrameLocks noGrp="1"/>
          </p:cNvGraphicFramePr>
          <p:nvPr/>
        </p:nvGraphicFramePr>
        <p:xfrm>
          <a:off x="731520" y="1371600"/>
          <a:ext cx="10698480" cy="4754880"/>
        </p:xfrm>
        <a:graphic>
          <a:graphicData uri="http://schemas.openxmlformats.org/drawingml/2006/table">
            <a:tbl>
              <a:tblPr firstRow="1" bandRow="1">
                <a:tableStyleId>{5C22544A-7EE6-4342-B048-85BDC9FD1C3A}</a:tableStyleId>
              </a:tblPr>
              <a:tblGrid>
                <a:gridCol w="2011680"/>
                <a:gridCol w="4114800"/>
                <a:gridCol w="4572000"/>
              </a:tblGrid>
              <a:tr h="528320">
                <a:tc>
                  <a:txBody>
                    <a:bodyPr/>
                    <a:lstStyle/>
                    <a:p>
                      <a:pPr>
                        <a:defRPr sz="1000" b="1">
                          <a:solidFill>
                            <a:srgbClr val="FFFFFF"/>
                          </a:solidFill>
                          <a:latin typeface="Arial"/>
                        </a:defRPr>
                      </a:pPr>
                      <a:r>
                        <a:t>Component Layer</a:t>
                      </a:r>
                    </a:p>
                  </a:txBody>
                  <a:tcPr>
                    <a:solidFill>
                      <a:srgbClr val="1E3A8A"/>
                    </a:solidFill>
                  </a:tcPr>
                </a:tc>
                <a:tc>
                  <a:txBody>
                    <a:bodyPr/>
                    <a:lstStyle/>
                    <a:p>
                      <a:pPr>
                        <a:defRPr sz="1000" b="1">
                          <a:solidFill>
                            <a:srgbClr val="FFFFFF"/>
                          </a:solidFill>
                          <a:latin typeface="Arial"/>
                        </a:defRPr>
                      </a:pPr>
                      <a:r>
                        <a:t>Implementation Strategy</a:t>
                      </a:r>
                    </a:p>
                  </a:txBody>
                  <a:tcPr>
                    <a:solidFill>
                      <a:srgbClr val="1E3A8A"/>
                    </a:solidFill>
                  </a:tcPr>
                </a:tc>
                <a:tc>
                  <a:txBody>
                    <a:bodyPr/>
                    <a:lstStyle/>
                    <a:p>
                      <a:pPr>
                        <a:defRPr sz="1000" b="1">
                          <a:solidFill>
                            <a:srgbClr val="FFFFFF"/>
                          </a:solidFill>
                          <a:latin typeface="Arial"/>
                        </a:defRPr>
                      </a:pPr>
                      <a:r>
                        <a:t>Dependency Boundary Verification</a:t>
                      </a:r>
                    </a:p>
                  </a:txBody>
                  <a:tcPr>
                    <a:solidFill>
                      <a:srgbClr val="1E3A8A"/>
                    </a:solidFill>
                  </a:tcPr>
                </a:tc>
              </a:tr>
              <a:tr h="528320">
                <a:tc>
                  <a:txBody>
                    <a:bodyPr/>
                    <a:lstStyle/>
                    <a:p>
                      <a:pPr>
                        <a:defRPr sz="1000">
                          <a:solidFill>
                            <a:srgbClr val="0F172A"/>
                          </a:solidFill>
                          <a:latin typeface="Arial"/>
                        </a:defRPr>
                      </a:pPr>
                      <a:r>
                        <a:t>Matrix &amp; Vector Math</a:t>
                      </a:r>
                    </a:p>
                  </a:txBody>
                  <a:tcPr>
                    <a:solidFill>
                      <a:srgbClr val="FFFFFF"/>
                    </a:solidFill>
                  </a:tcPr>
                </a:tc>
                <a:tc>
                  <a:txBody>
                    <a:bodyPr/>
                    <a:lstStyle/>
                    <a:p>
                      <a:pPr>
                        <a:defRPr sz="1000">
                          <a:solidFill>
                            <a:srgbClr val="0F172A"/>
                          </a:solidFill>
                          <a:latin typeface="Arial"/>
                        </a:defRPr>
                      </a:pPr>
                      <a:r>
                        <a:t>Custom Matrix Engine (matrices.py, vectors.py)</a:t>
                      </a:r>
                    </a:p>
                  </a:txBody>
                  <a:tcPr>
                    <a:solidFill>
                      <a:srgbClr val="FFFFFF"/>
                    </a:solidFill>
                  </a:tcPr>
                </a:tc>
                <a:tc>
                  <a:txBody>
                    <a:bodyPr/>
                    <a:lstStyle/>
                    <a:p>
                      <a:pPr>
                        <a:defRPr sz="1000">
                          <a:solidFill>
                            <a:srgbClr val="0F172A"/>
                          </a:solidFill>
                          <a:latin typeface="Arial"/>
                        </a:defRPr>
                      </a:pPr>
                      <a:r>
                        <a:t>Zero NumPy / SciPy; Gauss-Jordan inversion with partial pivoting</a:t>
                      </a:r>
                    </a:p>
                  </a:txBody>
                  <a:tcPr>
                    <a:solidFill>
                      <a:srgbClr val="FFFFFF"/>
                    </a:solidFill>
                  </a:tcPr>
                </a:tc>
              </a:tr>
              <a:tr h="528320">
                <a:tc>
                  <a:txBody>
                    <a:bodyPr/>
                    <a:lstStyle/>
                    <a:p>
                      <a:pPr>
                        <a:defRPr sz="1000">
                          <a:solidFill>
                            <a:srgbClr val="0F172A"/>
                          </a:solidFill>
                          <a:latin typeface="Arial"/>
                        </a:defRPr>
                      </a:pPr>
                      <a:r>
                        <a:t>Descriptive Stats</a:t>
                      </a:r>
                    </a:p>
                  </a:txBody>
                  <a:tcPr>
                    <a:solidFill>
                      <a:srgbClr val="F1F5F9"/>
                    </a:solidFill>
                  </a:tcPr>
                </a:tc>
                <a:tc>
                  <a:txBody>
                    <a:bodyPr/>
                    <a:lstStyle/>
                    <a:p>
                      <a:pPr>
                        <a:defRPr sz="1000">
                          <a:solidFill>
                            <a:srgbClr val="0F172A"/>
                          </a:solidFill>
                          <a:latin typeface="Arial"/>
                        </a:defRPr>
                      </a:pPr>
                      <a:r>
                        <a:t>Custom Stats Engine (stats.py)</a:t>
                      </a:r>
                    </a:p>
                  </a:txBody>
                  <a:tcPr>
                    <a:solidFill>
                      <a:srgbClr val="F1F5F9"/>
                    </a:solidFill>
                  </a:tcPr>
                </a:tc>
                <a:tc>
                  <a:txBody>
                    <a:bodyPr/>
                    <a:lstStyle/>
                    <a:p>
                      <a:pPr>
                        <a:defRPr sz="1000">
                          <a:solidFill>
                            <a:srgbClr val="0F172A"/>
                          </a:solidFill>
                          <a:latin typeface="Arial"/>
                        </a:defRPr>
                      </a:pPr>
                      <a:r>
                        <a:t>Zero Pandas; Bessel-corrected variance, Pearson correlation matrix</a:t>
                      </a:r>
                    </a:p>
                  </a:txBody>
                  <a:tcPr>
                    <a:solidFill>
                      <a:srgbClr val="F1F5F9"/>
                    </a:solidFill>
                  </a:tcPr>
                </a:tc>
              </a:tr>
              <a:tr h="528320">
                <a:tc>
                  <a:txBody>
                    <a:bodyPr/>
                    <a:lstStyle/>
                    <a:p>
                      <a:pPr>
                        <a:defRPr sz="1000">
                          <a:solidFill>
                            <a:srgbClr val="0F172A"/>
                          </a:solidFill>
                          <a:latin typeface="Arial"/>
                        </a:defRPr>
                      </a:pPr>
                      <a:r>
                        <a:t>Exp &amp; Log Functions</a:t>
                      </a:r>
                    </a:p>
                  </a:txBody>
                  <a:tcPr>
                    <a:solidFill>
                      <a:srgbClr val="FFFFFF"/>
                    </a:solidFill>
                  </a:tcPr>
                </a:tc>
                <a:tc>
                  <a:txBody>
                    <a:bodyPr/>
                    <a:lstStyle/>
                    <a:p>
                      <a:pPr>
                        <a:defRPr sz="1000">
                          <a:solidFill>
                            <a:srgbClr val="0F172A"/>
                          </a:solidFill>
                          <a:latin typeface="Arial"/>
                        </a:defRPr>
                      </a:pPr>
                      <a:r>
                        <a:t>Range-Reduced Taylor Series (activations.py)</a:t>
                      </a:r>
                    </a:p>
                  </a:txBody>
                  <a:tcPr>
                    <a:solidFill>
                      <a:srgbClr val="FFFFFF"/>
                    </a:solidFill>
                  </a:tcPr>
                </a:tc>
                <a:tc>
                  <a:txBody>
                    <a:bodyPr/>
                    <a:lstStyle/>
                    <a:p>
                      <a:pPr>
                        <a:defRPr sz="1000">
                          <a:solidFill>
                            <a:srgbClr val="0F172A"/>
                          </a:solidFill>
                          <a:latin typeface="Arial"/>
                        </a:defRPr>
                      </a:pPr>
                      <a:r>
                        <a:t>Zero math / statistics modules; error &lt; 1.2e-12 over [-709, 709]</a:t>
                      </a:r>
                    </a:p>
                  </a:txBody>
                  <a:tcPr>
                    <a:solidFill>
                      <a:srgbClr val="FFFFFF"/>
                    </a:solidFill>
                  </a:tcPr>
                </a:tc>
              </a:tr>
              <a:tr h="528320">
                <a:tc>
                  <a:txBody>
                    <a:bodyPr/>
                    <a:lstStyle/>
                    <a:p>
                      <a:pPr>
                        <a:defRPr sz="1000">
                          <a:solidFill>
                            <a:srgbClr val="0F172A"/>
                          </a:solidFill>
                          <a:latin typeface="Arial"/>
                        </a:defRPr>
                      </a:pPr>
                      <a:r>
                        <a:t>Leak-Free Preprocessing</a:t>
                      </a:r>
                    </a:p>
                  </a:txBody>
                  <a:tcPr>
                    <a:solidFill>
                      <a:srgbClr val="F1F5F9"/>
                    </a:solidFill>
                  </a:tcPr>
                </a:tc>
                <a:tc>
                  <a:txBody>
                    <a:bodyPr/>
                    <a:lstStyle/>
                    <a:p>
                      <a:pPr>
                        <a:defRPr sz="1000">
                          <a:solidFill>
                            <a:srgbClr val="0F172A"/>
                          </a:solidFill>
                          <a:latin typeface="Arial"/>
                        </a:defRPr>
                      </a:pPr>
                      <a:r>
                        <a:t>SimpleImputer, OneHotEncoder, StandardScaler</a:t>
                      </a:r>
                    </a:p>
                  </a:txBody>
                  <a:tcPr>
                    <a:solidFill>
                      <a:srgbClr val="F1F5F9"/>
                    </a:solidFill>
                  </a:tcPr>
                </a:tc>
                <a:tc>
                  <a:txBody>
                    <a:bodyPr/>
                    <a:lstStyle/>
                    <a:p>
                      <a:pPr>
                        <a:defRPr sz="1000">
                          <a:solidFill>
                            <a:srgbClr val="0F172A"/>
                          </a:solidFill>
                          <a:latin typeface="Arial"/>
                        </a:defRPr>
                      </a:pPr>
                      <a:r>
                        <a:t>Fitted strictly on training split; unseen categories safely handled</a:t>
                      </a:r>
                    </a:p>
                  </a:txBody>
                  <a:tcPr>
                    <a:solidFill>
                      <a:srgbClr val="F1F5F9"/>
                    </a:solidFill>
                  </a:tcPr>
                </a:tc>
              </a:tr>
              <a:tr h="528320">
                <a:tc>
                  <a:txBody>
                    <a:bodyPr/>
                    <a:lstStyle/>
                    <a:p>
                      <a:pPr>
                        <a:defRPr sz="1000">
                          <a:solidFill>
                            <a:srgbClr val="0F172A"/>
                          </a:solidFill>
                          <a:latin typeface="Arial"/>
                        </a:defRPr>
                      </a:pPr>
                      <a:r>
                        <a:t>Model Estimators</a:t>
                      </a:r>
                    </a:p>
                  </a:txBody>
                  <a:tcPr>
                    <a:solidFill>
                      <a:srgbClr val="FFFFFF"/>
                    </a:solidFill>
                  </a:tcPr>
                </a:tc>
                <a:tc>
                  <a:txBody>
                    <a:bodyPr/>
                    <a:lstStyle/>
                    <a:p>
                      <a:pPr>
                        <a:defRPr sz="1000">
                          <a:solidFill>
                            <a:srgbClr val="0F172A"/>
                          </a:solidFill>
                          <a:latin typeface="Arial"/>
                        </a:defRPr>
                      </a:pPr>
                      <a:r>
                        <a:t>LinearRegression, KNNClassifier, DecisionTreeClassifier</a:t>
                      </a:r>
                    </a:p>
                  </a:txBody>
                  <a:tcPr>
                    <a:solidFill>
                      <a:srgbClr val="FFFFFF"/>
                    </a:solidFill>
                  </a:tcPr>
                </a:tc>
                <a:tc>
                  <a:txBody>
                    <a:bodyPr/>
                    <a:lstStyle/>
                    <a:p>
                      <a:pPr>
                        <a:defRPr sz="1000">
                          <a:solidFill>
                            <a:srgbClr val="0F172A"/>
                          </a:solidFill>
                          <a:latin typeface="Arial"/>
                        </a:defRPr>
                      </a:pPr>
                      <a:r>
                        <a:t>100% custom from-scratch algorithms in edupredict/models/</a:t>
                      </a:r>
                    </a:p>
                  </a:txBody>
                  <a:tcPr>
                    <a:solidFill>
                      <a:srgbClr val="FFFFFF"/>
                    </a:solidFill>
                  </a:tcPr>
                </a:tc>
              </a:tr>
              <a:tr h="528320">
                <a:tc>
                  <a:txBody>
                    <a:bodyPr/>
                    <a:lstStyle/>
                    <a:p>
                      <a:pPr>
                        <a:defRPr sz="1000">
                          <a:solidFill>
                            <a:srgbClr val="0F172A"/>
                          </a:solidFill>
                          <a:latin typeface="Arial"/>
                        </a:defRPr>
                      </a:pPr>
                      <a:r>
                        <a:t>Losses &amp; Gradients</a:t>
                      </a:r>
                    </a:p>
                  </a:txBody>
                  <a:tcPr>
                    <a:solidFill>
                      <a:srgbClr val="F1F5F9"/>
                    </a:solidFill>
                  </a:tcPr>
                </a:tc>
                <a:tc>
                  <a:txBody>
                    <a:bodyPr/>
                    <a:lstStyle/>
                    <a:p>
                      <a:pPr>
                        <a:defRPr sz="1000">
                          <a:solidFill>
                            <a:srgbClr val="0F172A"/>
                          </a:solidFill>
                          <a:latin typeface="Arial"/>
                        </a:defRPr>
                      </a:pPr>
                      <a:r>
                        <a:t>MSE, MAE, Analytical Gradients with Momentum</a:t>
                      </a:r>
                    </a:p>
                  </a:txBody>
                  <a:tcPr>
                    <a:solidFill>
                      <a:srgbClr val="F1F5F9"/>
                    </a:solidFill>
                  </a:tcPr>
                </a:tc>
                <a:tc>
                  <a:txBody>
                    <a:bodyPr/>
                    <a:lstStyle/>
                    <a:p>
                      <a:pPr>
                        <a:defRPr sz="1000">
                          <a:solidFill>
                            <a:srgbClr val="0F172A"/>
                          </a:solidFill>
                          <a:latin typeface="Arial"/>
                        </a:defRPr>
                      </a:pPr>
                      <a:r>
                        <a:t>Zero PyTorch / TensorFlow; checked against finite differences</a:t>
                      </a:r>
                    </a:p>
                  </a:txBody>
                  <a:tcPr>
                    <a:solidFill>
                      <a:srgbClr val="F1F5F9"/>
                    </a:solidFill>
                  </a:tcPr>
                </a:tc>
              </a:tr>
              <a:tr h="528320">
                <a:tc>
                  <a:txBody>
                    <a:bodyPr/>
                    <a:lstStyle/>
                    <a:p>
                      <a:pPr>
                        <a:defRPr sz="1000">
                          <a:solidFill>
                            <a:srgbClr val="0F172A"/>
                          </a:solidFill>
                          <a:latin typeface="Arial"/>
                        </a:defRPr>
                      </a:pPr>
                      <a:r>
                        <a:t>Evaluation Metrics</a:t>
                      </a:r>
                    </a:p>
                  </a:txBody>
                  <a:tcPr>
                    <a:solidFill>
                      <a:srgbClr val="FFFFFF"/>
                    </a:solidFill>
                  </a:tcPr>
                </a:tc>
                <a:tc>
                  <a:txBody>
                    <a:bodyPr/>
                    <a:lstStyle/>
                    <a:p>
                      <a:pPr>
                        <a:defRPr sz="1000">
                          <a:solidFill>
                            <a:srgbClr val="0F172A"/>
                          </a:solidFill>
                          <a:latin typeface="Arial"/>
                        </a:defRPr>
                      </a:pPr>
                      <a:r>
                        <a:t>MSE, RMSE, MAE, R², Acc, Prec, Rec, F1, ROC-AUC</a:t>
                      </a:r>
                    </a:p>
                  </a:txBody>
                  <a:tcPr>
                    <a:solidFill>
                      <a:srgbClr val="FFFFFF"/>
                    </a:solidFill>
                  </a:tcPr>
                </a:tc>
                <a:tc>
                  <a:txBody>
                    <a:bodyPr/>
                    <a:lstStyle/>
                    <a:p>
                      <a:pPr>
                        <a:defRPr sz="1000">
                          <a:solidFill>
                            <a:srgbClr val="0F172A"/>
                          </a:solidFill>
                          <a:latin typeface="Arial"/>
                        </a:defRPr>
                      </a:pPr>
                      <a:r>
                        <a:t>First-principles calculations; trapezoidal numerical ROC integration</a:t>
                      </a:r>
                    </a:p>
                  </a:txBody>
                  <a:tcPr>
                    <a:solidFill>
                      <a:srgbClr val="FFFFFF"/>
                    </a:solidFill>
                  </a:tcPr>
                </a:tc>
              </a:tr>
              <a:tr h="528320">
                <a:tc>
                  <a:txBody>
                    <a:bodyPr/>
                    <a:lstStyle/>
                    <a:p>
                      <a:pPr>
                        <a:defRPr sz="1000">
                          <a:solidFill>
                            <a:srgbClr val="0F172A"/>
                          </a:solidFill>
                          <a:latin typeface="Arial"/>
                        </a:defRPr>
                      </a:pPr>
                      <a:r>
                        <a:t>Interactive Dashboard</a:t>
                      </a:r>
                    </a:p>
                  </a:txBody>
                  <a:tcPr>
                    <a:solidFill>
                      <a:srgbClr val="F1F5F9"/>
                    </a:solidFill>
                  </a:tcPr>
                </a:tc>
                <a:tc>
                  <a:txBody>
                    <a:bodyPr/>
                    <a:lstStyle/>
                    <a:p>
                      <a:pPr>
                        <a:defRPr sz="1000">
                          <a:solidFill>
                            <a:srgbClr val="0F172A"/>
                          </a:solidFill>
                          <a:latin typeface="Arial"/>
                        </a:defRPr>
                      </a:pPr>
                      <a:r>
                        <a:t>Streamlit &amp; Matplotlib (app.py, plots.py)</a:t>
                      </a:r>
                    </a:p>
                  </a:txBody>
                  <a:tcPr>
                    <a:solidFill>
                      <a:srgbClr val="F1F5F9"/>
                    </a:solidFill>
                  </a:tcPr>
                </a:tc>
                <a:tc>
                  <a:txBody>
                    <a:bodyPr/>
                    <a:lstStyle/>
                    <a:p>
                      <a:pPr>
                        <a:defRPr sz="1000">
                          <a:solidFill>
                            <a:srgbClr val="0F172A"/>
                          </a:solidFill>
                          <a:latin typeface="Arial"/>
                        </a:defRPr>
                      </a:pPr>
                      <a:r>
                        <a:t>Matplotlib strictly for rendering PNGs; all logic is custom scratch</a:t>
                      </a:r>
                    </a:p>
                  </a:txBody>
                  <a:tcPr>
                    <a:solidFill>
                      <a:srgbClr val="F1F5F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DATA PIPELINE</a:t>
            </a:r>
          </a:p>
          <a:p>
            <a:pPr>
              <a:defRPr sz="2200" b="1">
                <a:solidFill>
                  <a:srgbClr val="1E3A8A"/>
                </a:solidFill>
                <a:latin typeface="Arial"/>
              </a:defRPr>
            </a:pPr>
            <a:r>
              <a:t>Leak-Free Preprocessing &amp; Feature Engineering</a:t>
            </a:r>
          </a:p>
        </p:txBody>
      </p:sp>
      <p:sp>
        <p:nvSpPr>
          <p:cNvPr id="3" name="TextBox 2"/>
          <p:cNvSpPr txBox="1"/>
          <p:nvPr/>
        </p:nvSpPr>
        <p:spPr>
          <a:xfrm>
            <a:off x="731520" y="1280160"/>
            <a:ext cx="5303520" cy="4937760"/>
          </a:xfrm>
          <a:prstGeom prst="rect">
            <a:avLst/>
          </a:prstGeom>
          <a:noFill/>
        </p:spPr>
        <p:txBody>
          <a:bodyPr wrap="square">
            <a:spAutoFit/>
          </a:bodyPr>
          <a:lstStyle/>
          <a:p>
            <a:pPr>
              <a:defRPr b="1" sz="1300">
                <a:solidFill>
                  <a:srgbClr val="1E3A8A"/>
                </a:solidFill>
              </a:defRPr>
            </a:pPr>
            <a:r>
              <a:t>Three Modular Scratch Preprocessing Engines:</a:t>
            </a:r>
          </a:p>
          <a:p>
            <a:pPr>
              <a:spcBef>
                <a:spcPts val="600"/>
              </a:spcBef>
              <a:defRPr sz="1100"/>
            </a:pPr>
            <a:r>
              <a:t>• SimpleImputer (edupredict/preprocessing/imputer.py):</a:t>
            </a:r>
            <a:br/>
            <a:r>
              <a:t>• Numerical: Mean imputation mu = (1/N) sum x_i computed on training data.</a:t>
            </a:r>
            <a:br/>
            <a:r>
              <a:t>• Categorical: Mode imputation (most frequent training category).</a:t>
            </a:r>
          </a:p>
          <a:p>
            <a:pPr>
              <a:spcBef>
                <a:spcPts val="600"/>
              </a:spcBef>
              <a:defRPr sz="1100"/>
            </a:pPr>
            <a:r>
              <a:t>• OneHotEncoder (edupredict/preprocessing/encoder.py):</a:t>
            </a:r>
            <a:br/>
            <a:r>
              <a:t>• Categorical expansion: 17 nominal attributes expand into 27 binary columns.</a:t>
            </a:r>
            <a:br/>
            <a:r>
              <a:t>• Unseen Category Safeguard: Encodes unseen categories at test time as all-zero vectors, preventing indexing crashes.</a:t>
            </a:r>
          </a:p>
          <a:p>
            <a:pPr>
              <a:spcBef>
                <a:spcPts val="600"/>
              </a:spcBef>
              <a:defRPr sz="1100"/>
            </a:pPr>
            <a:r>
              <a:t>• StandardScaler (edupredict/preprocessing/scaler.py):</a:t>
            </a:r>
            <a:br/>
            <a:r>
              <a:t>• Normalizes features: z = (x - mu) / sqrt(sigma^2 + eps).</a:t>
            </a:r>
            <a:br/>
            <a:r>
              <a:t>• Parameters mu and sigma are frozen during training and reused on test splits.</a:t>
            </a:r>
          </a:p>
          <a:p>
            <a:pPr>
              <a:spcBef>
                <a:spcPts val="600"/>
              </a:spcBef>
              <a:defRPr sz="1100"/>
            </a:pPr>
            <a:r>
              <a:t>• Total Representation: Concatenation yields exactly D = 40 dense numerical features from 30 initial non-leaky attributes.</a:t>
            </a:r>
          </a:p>
        </p:txBody>
      </p:sp>
      <p:pic>
        <p:nvPicPr>
          <p:cNvPr id="4" name="Picture 3" descr="correlation_heatmap.png"/>
          <p:cNvPicPr>
            <a:picLocks noChangeAspect="1"/>
          </p:cNvPicPr>
          <p:nvPr/>
        </p:nvPicPr>
        <p:blipFill>
          <a:blip r:embed="rId2"/>
          <a:stretch>
            <a:fillRect/>
          </a:stretch>
        </p:blipFill>
        <p:spPr>
          <a:xfrm>
            <a:off x="6217920" y="1371600"/>
            <a:ext cx="5212080" cy="42644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MODEL FAMILY 1</a:t>
            </a:r>
          </a:p>
          <a:p>
            <a:pPr>
              <a:defRPr sz="2200" b="1">
                <a:solidFill>
                  <a:srgbClr val="1E3A8A"/>
                </a:solidFill>
                <a:latin typeface="Arial"/>
              </a:defRPr>
            </a:pPr>
            <a:r>
              <a:t>Custom Linear Regression Methodology</a:t>
            </a:r>
          </a:p>
        </p:txBody>
      </p:sp>
      <p:sp>
        <p:nvSpPr>
          <p:cNvPr id="3" name="TextBox 2"/>
          <p:cNvSpPr txBox="1"/>
          <p:nvPr/>
        </p:nvSpPr>
        <p:spPr>
          <a:xfrm>
            <a:off x="731520" y="1280160"/>
            <a:ext cx="5303520" cy="4937760"/>
          </a:xfrm>
          <a:prstGeom prst="rect">
            <a:avLst/>
          </a:prstGeom>
          <a:noFill/>
        </p:spPr>
        <p:txBody>
          <a:bodyPr wrap="square">
            <a:spAutoFit/>
          </a:bodyPr>
          <a:lstStyle/>
          <a:p>
            <a:pPr>
              <a:defRPr b="1" sz="1300">
                <a:solidFill>
                  <a:srgbClr val="1E3A8A"/>
                </a:solidFill>
              </a:defRPr>
            </a:pPr>
            <a:r>
              <a:t>Dual-Solver Mathematical Formulation:</a:t>
            </a:r>
          </a:p>
          <a:p>
            <a:pPr>
              <a:spcBef>
                <a:spcPts val="600"/>
              </a:spcBef>
              <a:defRPr sz="1050"/>
            </a:pPr>
            <a:r>
              <a:t>• Objective Loss Function (MSE with L2 Ridge Regularization):</a:t>
            </a:r>
            <a:br/>
            <a:r>
              <a:t>J(w, b) = (1/N) sum_{i=1}^N (w^T x_i + b - y_i)^2 + lambda ||w||_2^2</a:t>
            </a:r>
          </a:p>
          <a:p>
            <a:pPr>
              <a:spcBef>
                <a:spcPts val="600"/>
              </a:spcBef>
              <a:defRPr sz="1050"/>
            </a:pPr>
            <a:r>
              <a:t>• Solver 1: Closed-Form Normal Equation:</a:t>
            </a:r>
            <a:br/>
            <a:r>
              <a:t>• Solves: w = (X_c^T X_c + N * lambda * I)^(-1) X_c^T y_c</a:t>
            </a:r>
            <a:br/>
            <a:r>
              <a:t>• Inversion via Gauss-Jordan elimination with partial row pivoting.</a:t>
            </a:r>
            <a:br/>
            <a:r>
              <a:t>• Sample-count scaling (N * lambda) guarantees exact parity with GD MSE loss.</a:t>
            </a:r>
            <a:br/>
            <a:r>
              <a:t>• Unpenalized intercept: b = y_bar - w^T x_bar.</a:t>
            </a:r>
          </a:p>
          <a:p>
            <a:pPr>
              <a:spcBef>
                <a:spcPts val="600"/>
              </a:spcBef>
              <a:defRPr sz="1050"/>
            </a:pPr>
            <a:r>
              <a:t>• Solver 2: Iterative Gradient Descent with Polyak Momentum:</a:t>
            </a:r>
            <a:br/>
            <a:r>
              <a:t>• Gradients: nabla_w J = (2/N) X^T (X w + b 1 - y) + 2 lambda w</a:t>
            </a:r>
            <a:br/>
            <a:r>
              <a:t>• Velocity Update: v_t = beta * v_{t-1} + nabla_w J</a:t>
            </a:r>
            <a:br/>
            <a:r>
              <a:t>• Parameter Update: w_{t+1} = w_t - alpha * v_t</a:t>
            </a:r>
            <a:br/>
            <a:r>
              <a:t>• Early stopping: Monitors loss reduction Delta J across patience epochs.</a:t>
            </a:r>
          </a:p>
        </p:txBody>
      </p:sp>
      <p:pic>
        <p:nvPicPr>
          <p:cNvPr id="4" name="Picture 3" descr="linear_regression_loss_curve.png"/>
          <p:cNvPicPr>
            <a:picLocks noChangeAspect="1"/>
          </p:cNvPicPr>
          <p:nvPr/>
        </p:nvPicPr>
        <p:blipFill>
          <a:blip r:embed="rId2"/>
          <a:stretch>
            <a:fillRect/>
          </a:stretch>
        </p:blipFill>
        <p:spPr>
          <a:xfrm>
            <a:off x="6217920" y="1463040"/>
            <a:ext cx="5212080" cy="325755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MODEL FAMILY 2</a:t>
            </a:r>
          </a:p>
          <a:p>
            <a:pPr>
              <a:defRPr sz="2200" b="1">
                <a:solidFill>
                  <a:srgbClr val="1E3A8A"/>
                </a:solidFill>
                <a:latin typeface="Arial"/>
              </a:defRPr>
            </a:pPr>
            <a:r>
              <a:t>Custom K-Nearest Neighbors Classifier Methodology</a:t>
            </a:r>
          </a:p>
        </p:txBody>
      </p:sp>
      <p:sp>
        <p:nvSpPr>
          <p:cNvPr id="3" name="TextBox 2"/>
          <p:cNvSpPr txBox="1"/>
          <p:nvPr/>
        </p:nvSpPr>
        <p:spPr>
          <a:xfrm>
            <a:off x="731520" y="1280160"/>
            <a:ext cx="5303520" cy="4937760"/>
          </a:xfrm>
          <a:prstGeom prst="rect">
            <a:avLst/>
          </a:prstGeom>
          <a:noFill/>
        </p:spPr>
        <p:txBody>
          <a:bodyPr wrap="square">
            <a:spAutoFit/>
          </a:bodyPr>
          <a:lstStyle/>
          <a:p>
            <a:pPr>
              <a:defRPr b="1" sz="1300">
                <a:solidFill>
                  <a:srgbClr val="1E3A8A"/>
                </a:solidFill>
              </a:defRPr>
            </a:pPr>
            <a:r>
              <a:t>Instance-Based Non-Parametric Classification:</a:t>
            </a:r>
          </a:p>
          <a:p>
            <a:pPr>
              <a:spcBef>
                <a:spcPts val="600"/>
              </a:spcBef>
              <a:defRPr sz="1100"/>
            </a:pPr>
            <a:r>
              <a:t>• Distance Metric Formulations:</a:t>
            </a:r>
            <a:br/>
            <a:r>
              <a:t>• Euclidean (L2): d_E(u, v) = sqrt( sum_{j=1}^D (u_j - v_j)^2 )</a:t>
            </a:r>
            <a:br/>
            <a:r>
              <a:t>• Manhattan (L1): d_M(u, v) = sum_{j=1}^D |u_j - v_j|</a:t>
            </a:r>
          </a:p>
          <a:p>
            <a:pPr>
              <a:spcBef>
                <a:spcPts val="600"/>
              </a:spcBef>
              <a:defRPr sz="1100"/>
            </a:pPr>
            <a:r>
              <a:t>• Neighborhood Search &amp; Voting:</a:t>
            </a:r>
            <a:br/>
            <a:r>
              <a:t>• Computes pairwise distances from query vector x_q to all N training vectors.</a:t>
            </a:r>
            <a:br/>
            <a:r>
              <a:t>• Slices top-k nearest neighbors via partial index sorting.</a:t>
            </a:r>
            <a:br/>
            <a:r>
              <a:t>• Voting schemes: Uniform voting (1 vote per neighbor) or Distance-weighted voting: w_i = 1 / (d(x_q, x_i) + 1e-9).</a:t>
            </a:r>
          </a:p>
          <a:p>
            <a:pPr>
              <a:spcBef>
                <a:spcPts val="600"/>
              </a:spcBef>
              <a:defRPr sz="1100"/>
            </a:pPr>
            <a:r>
              <a:t>• Deterministic Tie-Breaking:</a:t>
            </a:r>
            <a:br/>
            <a:r>
              <a:t>• Resolves exact vote ties deterministically using predefined class order [0, 1].</a:t>
            </a:r>
          </a:p>
          <a:p>
            <a:pPr>
              <a:spcBef>
                <a:spcPts val="600"/>
              </a:spcBef>
              <a:defRPr sz="1100"/>
            </a:pPr>
            <a:r>
              <a:t>• Class Probability Calibration (predict_proba):</a:t>
            </a:r>
            <a:br/>
            <a:r>
              <a:t>• Calculates posterior class probability: P(y = c | x_q) = V_c / sum_k V_k.</a:t>
            </a:r>
          </a:p>
        </p:txBody>
      </p:sp>
      <p:pic>
        <p:nvPicPr>
          <p:cNvPr id="4" name="Picture 3" descr="knn_overfitting_curve.png"/>
          <p:cNvPicPr>
            <a:picLocks noChangeAspect="1"/>
          </p:cNvPicPr>
          <p:nvPr/>
        </p:nvPicPr>
        <p:blipFill>
          <a:blip r:embed="rId2"/>
          <a:stretch>
            <a:fillRect/>
          </a:stretch>
        </p:blipFill>
        <p:spPr>
          <a:xfrm>
            <a:off x="6217920" y="1463040"/>
            <a:ext cx="5212080" cy="306592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MODEL FAMILY 3</a:t>
            </a:r>
          </a:p>
          <a:p>
            <a:pPr>
              <a:defRPr sz="2200" b="1">
                <a:solidFill>
                  <a:srgbClr val="1E3A8A"/>
                </a:solidFill>
                <a:latin typeface="Arial"/>
              </a:defRPr>
            </a:pPr>
            <a:r>
              <a:t>Custom Decision Tree Classifier Methodology</a:t>
            </a:r>
          </a:p>
        </p:txBody>
      </p:sp>
      <p:sp>
        <p:nvSpPr>
          <p:cNvPr id="3" name="TextBox 2"/>
          <p:cNvSpPr txBox="1"/>
          <p:nvPr/>
        </p:nvSpPr>
        <p:spPr>
          <a:xfrm>
            <a:off x="731520" y="1280160"/>
            <a:ext cx="5303520" cy="4937760"/>
          </a:xfrm>
          <a:prstGeom prst="rect">
            <a:avLst/>
          </a:prstGeom>
          <a:noFill/>
        </p:spPr>
        <p:txBody>
          <a:bodyPr wrap="square">
            <a:spAutoFit/>
          </a:bodyPr>
          <a:lstStyle/>
          <a:p>
            <a:pPr>
              <a:defRPr b="1" sz="1300">
                <a:solidFill>
                  <a:srgbClr val="1E3A8A"/>
                </a:solidFill>
              </a:defRPr>
            </a:pPr>
            <a:r>
              <a:t>Recursive Binary Partitioning via Gini Impurity:</a:t>
            </a:r>
          </a:p>
          <a:p>
            <a:pPr>
              <a:spcBef>
                <a:spcPts val="600"/>
              </a:spcBef>
              <a:defRPr sz="1100"/>
            </a:pPr>
            <a:r>
              <a:t>• Gini Impurity Criterion:</a:t>
            </a:r>
            <a:br/>
            <a:r>
              <a:t>Gini(S) = 1 - sum_{k=1}^C p_k^2  (for C classes with empirical proportions p_k)</a:t>
            </a:r>
          </a:p>
          <a:p>
            <a:pPr>
              <a:spcBef>
                <a:spcPts val="600"/>
              </a:spcBef>
              <a:defRPr sz="1100"/>
            </a:pPr>
            <a:r>
              <a:t>• Split Optimization &amp; Gini Gain:</a:t>
            </a:r>
            <a:br/>
            <a:r>
              <a:t>• Evaluates candidate midpoints theta = (v_i + v_{i+1})/2 between sorted feature values.</a:t>
            </a:r>
            <a:br/>
            <a:r>
              <a:t>• Maximizes impurity reduction:</a:t>
            </a:r>
            <a:br/>
            <a:r>
              <a:t>  Delta Gini = Gini(S) - [ (|S_L|/|S|) Gini(S_L) + (|S_R|/|S|) Gini(S_R) ]</a:t>
            </a:r>
          </a:p>
          <a:p>
            <a:pPr>
              <a:spcBef>
                <a:spcPts val="600"/>
              </a:spcBef>
              <a:defRPr sz="1100"/>
            </a:pPr>
            <a:r>
              <a:t>• Pruning &amp; Stopping Constraints:</a:t>
            </a:r>
            <a:br/>
            <a:r>
              <a:t>• max_depth: Limits tree expansion to prevent overfitting.</a:t>
            </a:r>
            <a:br/>
            <a:r>
              <a:t>• min_samples_split &amp; min_samples_leaf: Prevents splitting tiny subsets.</a:t>
            </a:r>
          </a:p>
          <a:p>
            <a:pPr>
              <a:spcBef>
                <a:spcPts val="600"/>
              </a:spcBef>
              <a:defRPr sz="1100"/>
            </a:pPr>
            <a:r>
              <a:t>• Feature Importance Attribution:</a:t>
            </a:r>
            <a:br/>
            <a:r>
              <a:t>• Tracks weighted impurity decrease across all tree splits: I(j) = sum N_t Delta Gini(t).</a:t>
            </a:r>
          </a:p>
        </p:txBody>
      </p:sp>
      <p:pic>
        <p:nvPicPr>
          <p:cNvPr id="4" name="Picture 3" descr="tree_overfitting_curve.png"/>
          <p:cNvPicPr>
            <a:picLocks noChangeAspect="1"/>
          </p:cNvPicPr>
          <p:nvPr/>
        </p:nvPicPr>
        <p:blipFill>
          <a:blip r:embed="rId2"/>
          <a:stretch>
            <a:fillRect/>
          </a:stretch>
        </p:blipFill>
        <p:spPr>
          <a:xfrm>
            <a:off x="6217920" y="1463040"/>
            <a:ext cx="5212080" cy="306592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VALIDATION DISCIPLINE</a:t>
            </a:r>
          </a:p>
          <a:p>
            <a:pPr>
              <a:defRPr sz="2200" b="1">
                <a:solidFill>
                  <a:srgbClr val="1E3A8A"/>
                </a:solidFill>
                <a:latin typeface="Arial"/>
              </a:defRPr>
            </a:pPr>
            <a:r>
              <a:t>Experimental Protocol &amp; 3-Way Partitioning</a:t>
            </a:r>
          </a:p>
        </p:txBody>
      </p:sp>
      <p:sp>
        <p:nvSpPr>
          <p:cNvPr id="3" name="TextBox 2"/>
          <p:cNvSpPr txBox="1"/>
          <p:nvPr/>
        </p:nvSpPr>
        <p:spPr>
          <a:xfrm>
            <a:off x="731520" y="1280160"/>
            <a:ext cx="5303520" cy="4937760"/>
          </a:xfrm>
          <a:prstGeom prst="rect">
            <a:avLst/>
          </a:prstGeom>
          <a:noFill/>
        </p:spPr>
        <p:txBody>
          <a:bodyPr wrap="square">
            <a:spAutoFit/>
          </a:bodyPr>
          <a:lstStyle/>
          <a:p>
            <a:pPr>
              <a:defRPr b="1" sz="1300">
                <a:solidFill>
                  <a:srgbClr val="1E3A8A"/>
                </a:solidFill>
              </a:defRPr>
            </a:pPr>
            <a:r>
              <a:t>Disciplined 3-Way Partition Protocol:</a:t>
            </a:r>
          </a:p>
          <a:p>
            <a:pPr>
              <a:spcBef>
                <a:spcPts val="600"/>
              </a:spcBef>
              <a:defRPr sz="1050"/>
            </a:pPr>
            <a:r>
              <a:t>• Locked Holdout Test Set (79 samples, 20%):</a:t>
            </a:r>
            <a:br/>
            <a:r>
              <a:t>• Completely isolated and frozen upfront at seed 42.</a:t>
            </a:r>
            <a:br/>
            <a:r>
              <a:t>• Evaluated exactly ONCE after all hyperparameters are selected.</a:t>
            </a:r>
          </a:p>
          <a:p>
            <a:pPr>
              <a:spcBef>
                <a:spcPts val="600"/>
              </a:spcBef>
              <a:defRPr sz="1050"/>
            </a:pPr>
            <a:r>
              <a:t>• Development Pool (316 samples, 80%):</a:t>
            </a:r>
            <a:br/>
            <a:r>
              <a:t>• Partitioned internally into Train-Sub (253 samples) and Validation (63 samples).</a:t>
            </a:r>
            <a:br/>
            <a:r>
              <a:t>• Classification splits are stratified to preserve the 32.9% at-risk ratio.</a:t>
            </a:r>
          </a:p>
          <a:p>
            <a:pPr>
              <a:spcBef>
                <a:spcPts val="600"/>
              </a:spcBef>
              <a:defRPr sz="1050"/>
            </a:pPr>
            <a:r>
              <a:t>• Hyperparameter Selection on Validation:</a:t>
            </a:r>
            <a:br/>
            <a:r>
              <a:t>• Linear Regression: lambda* = 5.0 selected via peak validation R² (+0.0423).</a:t>
            </a:r>
            <a:br/>
            <a:r>
              <a:t>• Decision Tree: max_depth* = 2 selected via peak validation accuracy (69.84%).</a:t>
            </a:r>
            <a:br/>
            <a:r>
              <a:t>• KNN: k = 5 evaluated as canonical comparison baseline (validation sweep peaks at k = 19, 66.67% accuracy).</a:t>
            </a:r>
          </a:p>
          <a:p>
            <a:pPr>
              <a:spcBef>
                <a:spcPts val="600"/>
              </a:spcBef>
              <a:defRPr sz="1050"/>
            </a:pPr>
            <a:r>
              <a:t>• Scientific Guarantee: Zero peeking at holdout test results during tuning.</a:t>
            </a:r>
          </a:p>
        </p:txBody>
      </p:sp>
      <p:pic>
        <p:nvPicPr>
          <p:cNvPr id="4" name="Picture 3" descr="linear_regression_regularization_curve.png"/>
          <p:cNvPicPr>
            <a:picLocks noChangeAspect="1"/>
          </p:cNvPicPr>
          <p:nvPr/>
        </p:nvPicPr>
        <p:blipFill>
          <a:blip r:embed="rId2"/>
          <a:stretch>
            <a:fillRect/>
          </a:stretch>
        </p:blipFill>
        <p:spPr>
          <a:xfrm>
            <a:off x="6217920" y="1463040"/>
            <a:ext cx="5212080" cy="306592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TASK 1: GRADE PREDICTION (G3)</a:t>
            </a:r>
          </a:p>
          <a:p>
            <a:pPr>
              <a:defRPr sz="2200" b="1">
                <a:solidFill>
                  <a:srgbClr val="1E3A8A"/>
                </a:solidFill>
                <a:latin typeface="Arial"/>
              </a:defRPr>
            </a:pPr>
            <a:r>
              <a:t>Regression Results &amp; Baseline Comparison</a:t>
            </a:r>
          </a:p>
        </p:txBody>
      </p:sp>
      <p:graphicFrame>
        <p:nvGraphicFramePr>
          <p:cNvPr id="3" name="Table 2"/>
          <p:cNvGraphicFramePr>
            <a:graphicFrameLocks noGrp="1"/>
          </p:cNvGraphicFramePr>
          <p:nvPr/>
        </p:nvGraphicFramePr>
        <p:xfrm>
          <a:off x="731520" y="1371600"/>
          <a:ext cx="10698480" cy="2286000"/>
        </p:xfrm>
        <a:graphic>
          <a:graphicData uri="http://schemas.openxmlformats.org/drawingml/2006/table">
            <a:tbl>
              <a:tblPr firstRow="1" bandRow="1">
                <a:tableStyleId>{5C22544A-7EE6-4342-B048-85BDC9FD1C3A}</a:tableStyleId>
              </a:tblPr>
              <a:tblGrid>
                <a:gridCol w="1528354"/>
                <a:gridCol w="1528354"/>
                <a:gridCol w="1528354"/>
                <a:gridCol w="1528354"/>
                <a:gridCol w="1528354"/>
                <a:gridCol w="1528354"/>
                <a:gridCol w="1528356"/>
              </a:tblGrid>
              <a:tr h="457200">
                <a:tc>
                  <a:txBody>
                    <a:bodyPr/>
                    <a:lstStyle/>
                    <a:p>
                      <a:pPr>
                        <a:defRPr sz="950" b="1">
                          <a:solidFill>
                            <a:srgbClr val="FFFFFF"/>
                          </a:solidFill>
                          <a:latin typeface="Arial"/>
                        </a:defRPr>
                      </a:pPr>
                      <a:r>
                        <a:t>Model / Configuration</a:t>
                      </a:r>
                    </a:p>
                  </a:txBody>
                  <a:tcPr>
                    <a:solidFill>
                      <a:srgbClr val="1E3A8A"/>
                    </a:solidFill>
                  </a:tcPr>
                </a:tc>
                <a:tc>
                  <a:txBody>
                    <a:bodyPr/>
                    <a:lstStyle/>
                    <a:p>
                      <a:pPr>
                        <a:defRPr sz="950" b="1">
                          <a:solidFill>
                            <a:srgbClr val="FFFFFF"/>
                          </a:solidFill>
                          <a:latin typeface="Arial"/>
                        </a:defRPr>
                      </a:pPr>
                      <a:r>
                        <a:t>Solver / Params</a:t>
                      </a:r>
                    </a:p>
                  </a:txBody>
                  <a:tcPr>
                    <a:solidFill>
                      <a:srgbClr val="1E3A8A"/>
                    </a:solidFill>
                  </a:tcPr>
                </a:tc>
                <a:tc>
                  <a:txBody>
                    <a:bodyPr/>
                    <a:lstStyle/>
                    <a:p>
                      <a:pPr>
                        <a:defRPr sz="950" b="1">
                          <a:solidFill>
                            <a:srgbClr val="FFFFFF"/>
                          </a:solidFill>
                          <a:latin typeface="Arial"/>
                        </a:defRPr>
                      </a:pPr>
                      <a:r>
                        <a:t>MSE</a:t>
                      </a:r>
                    </a:p>
                  </a:txBody>
                  <a:tcPr>
                    <a:solidFill>
                      <a:srgbClr val="1E3A8A"/>
                    </a:solidFill>
                  </a:tcPr>
                </a:tc>
                <a:tc>
                  <a:txBody>
                    <a:bodyPr/>
                    <a:lstStyle/>
                    <a:p>
                      <a:pPr>
                        <a:defRPr sz="950" b="1">
                          <a:solidFill>
                            <a:srgbClr val="FFFFFF"/>
                          </a:solidFill>
                          <a:latin typeface="Arial"/>
                        </a:defRPr>
                      </a:pPr>
                      <a:r>
                        <a:t>RMSE</a:t>
                      </a:r>
                    </a:p>
                  </a:txBody>
                  <a:tcPr>
                    <a:solidFill>
                      <a:srgbClr val="1E3A8A"/>
                    </a:solidFill>
                  </a:tcPr>
                </a:tc>
                <a:tc>
                  <a:txBody>
                    <a:bodyPr/>
                    <a:lstStyle/>
                    <a:p>
                      <a:pPr>
                        <a:defRPr sz="950" b="1">
                          <a:solidFill>
                            <a:srgbClr val="FFFFFF"/>
                          </a:solidFill>
                          <a:latin typeface="Arial"/>
                        </a:defRPr>
                      </a:pPr>
                      <a:r>
                        <a:t>MAE</a:t>
                      </a:r>
                    </a:p>
                  </a:txBody>
                  <a:tcPr>
                    <a:solidFill>
                      <a:srgbClr val="1E3A8A"/>
                    </a:solidFill>
                  </a:tcPr>
                </a:tc>
                <a:tc>
                  <a:txBody>
                    <a:bodyPr/>
                    <a:lstStyle/>
                    <a:p>
                      <a:pPr>
                        <a:defRPr sz="950" b="1">
                          <a:solidFill>
                            <a:srgbClr val="FFFFFF"/>
                          </a:solidFill>
                          <a:latin typeface="Arial"/>
                        </a:defRPr>
                      </a:pPr>
                      <a:r>
                        <a:t>R²</a:t>
                      </a:r>
                    </a:p>
                  </a:txBody>
                  <a:tcPr>
                    <a:solidFill>
                      <a:srgbClr val="1E3A8A"/>
                    </a:solidFill>
                  </a:tcPr>
                </a:tc>
                <a:tc>
                  <a:txBody>
                    <a:bodyPr/>
                    <a:lstStyle/>
                    <a:p>
                      <a:pPr>
                        <a:defRPr sz="950" b="1">
                          <a:solidFill>
                            <a:srgbClr val="FFFFFF"/>
                          </a:solidFill>
                          <a:latin typeface="Arial"/>
                        </a:defRPr>
                      </a:pPr>
                      <a:r>
                        <a:t>vs. Mean Baseline</a:t>
                      </a:r>
                    </a:p>
                  </a:txBody>
                  <a:tcPr>
                    <a:solidFill>
                      <a:srgbClr val="1E3A8A"/>
                    </a:solidFill>
                  </a:tcPr>
                </a:tc>
              </a:tr>
              <a:tr h="457200">
                <a:tc>
                  <a:txBody>
                    <a:bodyPr/>
                    <a:lstStyle/>
                    <a:p>
                      <a:pPr>
                        <a:defRPr sz="950">
                          <a:solidFill>
                            <a:srgbClr val="0F172A"/>
                          </a:solidFill>
                          <a:latin typeface="Arial"/>
                        </a:defRPr>
                      </a:pPr>
                      <a:r>
                        <a:t>Custom Linear Regression (Selected)</a:t>
                      </a:r>
                    </a:p>
                  </a:txBody>
                  <a:tcPr>
                    <a:solidFill>
                      <a:srgbClr val="FFFFFF"/>
                    </a:solidFill>
                  </a:tcPr>
                </a:tc>
                <a:tc>
                  <a:txBody>
                    <a:bodyPr/>
                    <a:lstStyle/>
                    <a:p>
                      <a:pPr>
                        <a:defRPr sz="950">
                          <a:solidFill>
                            <a:srgbClr val="0F172A"/>
                          </a:solidFill>
                          <a:latin typeface="Arial"/>
                        </a:defRPr>
                      </a:pPr>
                      <a:r>
                        <a:t>Gradient Descent (lambda=5.0)</a:t>
                      </a:r>
                    </a:p>
                  </a:txBody>
                  <a:tcPr>
                    <a:solidFill>
                      <a:srgbClr val="FFFFFF"/>
                    </a:solidFill>
                  </a:tcPr>
                </a:tc>
                <a:tc>
                  <a:txBody>
                    <a:bodyPr/>
                    <a:lstStyle/>
                    <a:p>
                      <a:pPr>
                        <a:defRPr sz="950">
                          <a:solidFill>
                            <a:srgbClr val="0F172A"/>
                          </a:solidFill>
                          <a:latin typeface="Arial"/>
                        </a:defRPr>
                      </a:pPr>
                      <a:r>
                        <a:t>15.5334</a:t>
                      </a:r>
                    </a:p>
                  </a:txBody>
                  <a:tcPr>
                    <a:solidFill>
                      <a:srgbClr val="FFFFFF"/>
                    </a:solidFill>
                  </a:tcPr>
                </a:tc>
                <a:tc>
                  <a:txBody>
                    <a:bodyPr/>
                    <a:lstStyle/>
                    <a:p>
                      <a:pPr>
                        <a:defRPr sz="950">
                          <a:solidFill>
                            <a:srgbClr val="0F172A"/>
                          </a:solidFill>
                          <a:latin typeface="Arial"/>
                        </a:defRPr>
                      </a:pPr>
                      <a:r>
                        <a:t>3.9412</a:t>
                      </a:r>
                    </a:p>
                  </a:txBody>
                  <a:tcPr>
                    <a:solidFill>
                      <a:srgbClr val="FFFFFF"/>
                    </a:solidFill>
                  </a:tcPr>
                </a:tc>
                <a:tc>
                  <a:txBody>
                    <a:bodyPr/>
                    <a:lstStyle/>
                    <a:p>
                      <a:pPr>
                        <a:defRPr sz="950">
                          <a:solidFill>
                            <a:srgbClr val="0F172A"/>
                          </a:solidFill>
                          <a:latin typeface="Arial"/>
                        </a:defRPr>
                      </a:pPr>
                      <a:r>
                        <a:t>2.9036</a:t>
                      </a:r>
                    </a:p>
                  </a:txBody>
                  <a:tcPr>
                    <a:solidFill>
                      <a:srgbClr val="FFFFFF"/>
                    </a:solidFill>
                  </a:tcPr>
                </a:tc>
                <a:tc>
                  <a:txBody>
                    <a:bodyPr/>
                    <a:lstStyle/>
                    <a:p>
                      <a:pPr>
                        <a:defRPr sz="950">
                          <a:solidFill>
                            <a:srgbClr val="0F172A"/>
                          </a:solidFill>
                          <a:latin typeface="Arial"/>
                        </a:defRPr>
                      </a:pPr>
                      <a:r>
                        <a:t>+0.0600</a:t>
                      </a:r>
                    </a:p>
                  </a:txBody>
                  <a:tcPr>
                    <a:solidFill>
                      <a:srgbClr val="FFFFFF"/>
                    </a:solidFill>
                  </a:tcPr>
                </a:tc>
                <a:tc>
                  <a:txBody>
                    <a:bodyPr/>
                    <a:lstStyle/>
                    <a:p>
                      <a:pPr>
                        <a:defRPr sz="950">
                          <a:solidFill>
                            <a:srgbClr val="0F172A"/>
                          </a:solidFill>
                          <a:latin typeface="Arial"/>
                        </a:defRPr>
                      </a:pPr>
                      <a:r>
                        <a:t>Outperforms Baseline (MSE -6.0%)</a:t>
                      </a:r>
                    </a:p>
                  </a:txBody>
                  <a:tcPr>
                    <a:solidFill>
                      <a:srgbClr val="FFFFFF"/>
                    </a:solidFill>
                  </a:tcPr>
                </a:tc>
              </a:tr>
              <a:tr h="457200">
                <a:tc>
                  <a:txBody>
                    <a:bodyPr/>
                    <a:lstStyle/>
                    <a:p>
                      <a:pPr>
                        <a:defRPr sz="950">
                          <a:solidFill>
                            <a:srgbClr val="0F172A"/>
                          </a:solidFill>
                          <a:latin typeface="Arial"/>
                        </a:defRPr>
                      </a:pPr>
                      <a:r>
                        <a:t>Custom Linear Regression (Selected)</a:t>
                      </a:r>
                    </a:p>
                  </a:txBody>
                  <a:tcPr>
                    <a:solidFill>
                      <a:srgbClr val="F1F5F9"/>
                    </a:solidFill>
                  </a:tcPr>
                </a:tc>
                <a:tc>
                  <a:txBody>
                    <a:bodyPr/>
                    <a:lstStyle/>
                    <a:p>
                      <a:pPr>
                        <a:defRPr sz="950">
                          <a:solidFill>
                            <a:srgbClr val="0F172A"/>
                          </a:solidFill>
                          <a:latin typeface="Arial"/>
                        </a:defRPr>
                      </a:pPr>
                      <a:r>
                        <a:t>Normal Equation (lambda=5.0)</a:t>
                      </a:r>
                    </a:p>
                  </a:txBody>
                  <a:tcPr>
                    <a:solidFill>
                      <a:srgbClr val="F1F5F9"/>
                    </a:solidFill>
                  </a:tcPr>
                </a:tc>
                <a:tc>
                  <a:txBody>
                    <a:bodyPr/>
                    <a:lstStyle/>
                    <a:p>
                      <a:pPr>
                        <a:defRPr sz="950">
                          <a:solidFill>
                            <a:srgbClr val="0F172A"/>
                          </a:solidFill>
                          <a:latin typeface="Arial"/>
                        </a:defRPr>
                      </a:pPr>
                      <a:r>
                        <a:t>15.5334</a:t>
                      </a:r>
                    </a:p>
                  </a:txBody>
                  <a:tcPr>
                    <a:solidFill>
                      <a:srgbClr val="F1F5F9"/>
                    </a:solidFill>
                  </a:tcPr>
                </a:tc>
                <a:tc>
                  <a:txBody>
                    <a:bodyPr/>
                    <a:lstStyle/>
                    <a:p>
                      <a:pPr>
                        <a:defRPr sz="950">
                          <a:solidFill>
                            <a:srgbClr val="0F172A"/>
                          </a:solidFill>
                          <a:latin typeface="Arial"/>
                        </a:defRPr>
                      </a:pPr>
                      <a:r>
                        <a:t>3.9412</a:t>
                      </a:r>
                    </a:p>
                  </a:txBody>
                  <a:tcPr>
                    <a:solidFill>
                      <a:srgbClr val="F1F5F9"/>
                    </a:solidFill>
                  </a:tcPr>
                </a:tc>
                <a:tc>
                  <a:txBody>
                    <a:bodyPr/>
                    <a:lstStyle/>
                    <a:p>
                      <a:pPr>
                        <a:defRPr sz="950">
                          <a:solidFill>
                            <a:srgbClr val="0F172A"/>
                          </a:solidFill>
                          <a:latin typeface="Arial"/>
                        </a:defRPr>
                      </a:pPr>
                      <a:r>
                        <a:t>2.9036</a:t>
                      </a:r>
                    </a:p>
                  </a:txBody>
                  <a:tcPr>
                    <a:solidFill>
                      <a:srgbClr val="F1F5F9"/>
                    </a:solidFill>
                  </a:tcPr>
                </a:tc>
                <a:tc>
                  <a:txBody>
                    <a:bodyPr/>
                    <a:lstStyle/>
                    <a:p>
                      <a:pPr>
                        <a:defRPr sz="950">
                          <a:solidFill>
                            <a:srgbClr val="0F172A"/>
                          </a:solidFill>
                          <a:latin typeface="Arial"/>
                        </a:defRPr>
                      </a:pPr>
                      <a:r>
                        <a:t>+0.0600</a:t>
                      </a:r>
                    </a:p>
                  </a:txBody>
                  <a:tcPr>
                    <a:solidFill>
                      <a:srgbClr val="F1F5F9"/>
                    </a:solidFill>
                  </a:tcPr>
                </a:tc>
                <a:tc>
                  <a:txBody>
                    <a:bodyPr/>
                    <a:lstStyle/>
                    <a:p>
                      <a:pPr>
                        <a:defRPr sz="950">
                          <a:solidFill>
                            <a:srgbClr val="0F172A"/>
                          </a:solidFill>
                          <a:latin typeface="Arial"/>
                        </a:defRPr>
                      </a:pPr>
                      <a:r>
                        <a:t>Exact Numerical Parity (&lt; 1e-14 diff)</a:t>
                      </a:r>
                    </a:p>
                  </a:txBody>
                  <a:tcPr>
                    <a:solidFill>
                      <a:srgbClr val="F1F5F9"/>
                    </a:solidFill>
                  </a:tcPr>
                </a:tc>
              </a:tr>
              <a:tr h="457200">
                <a:tc>
                  <a:txBody>
                    <a:bodyPr/>
                    <a:lstStyle/>
                    <a:p>
                      <a:pPr>
                        <a:defRPr sz="950">
                          <a:solidFill>
                            <a:srgbClr val="0F172A"/>
                          </a:solidFill>
                          <a:latin typeface="Arial"/>
                        </a:defRPr>
                      </a:pPr>
                      <a:r>
                        <a:t>Custom Linear Regression (Unregularized)</a:t>
                      </a:r>
                    </a:p>
                  </a:txBody>
                  <a:tcPr>
                    <a:solidFill>
                      <a:srgbClr val="FFFFFF"/>
                    </a:solidFill>
                  </a:tcPr>
                </a:tc>
                <a:tc>
                  <a:txBody>
                    <a:bodyPr/>
                    <a:lstStyle/>
                    <a:p>
                      <a:pPr>
                        <a:defRPr sz="950">
                          <a:solidFill>
                            <a:srgbClr val="0F172A"/>
                          </a:solidFill>
                          <a:latin typeface="Arial"/>
                        </a:defRPr>
                      </a:pPr>
                      <a:r>
                        <a:t>Gradient Descent (lambda=0.0)</a:t>
                      </a:r>
                    </a:p>
                  </a:txBody>
                  <a:tcPr>
                    <a:solidFill>
                      <a:srgbClr val="FFFFFF"/>
                    </a:solidFill>
                  </a:tcPr>
                </a:tc>
                <a:tc>
                  <a:txBody>
                    <a:bodyPr/>
                    <a:lstStyle/>
                    <a:p>
                      <a:pPr>
                        <a:defRPr sz="950">
                          <a:solidFill>
                            <a:srgbClr val="0F172A"/>
                          </a:solidFill>
                          <a:latin typeface="Arial"/>
                        </a:defRPr>
                      </a:pPr>
                      <a:r>
                        <a:t>18.1640</a:t>
                      </a:r>
                    </a:p>
                  </a:txBody>
                  <a:tcPr>
                    <a:solidFill>
                      <a:srgbClr val="FFFFFF"/>
                    </a:solidFill>
                  </a:tcPr>
                </a:tc>
                <a:tc>
                  <a:txBody>
                    <a:bodyPr/>
                    <a:lstStyle/>
                    <a:p>
                      <a:pPr>
                        <a:defRPr sz="950">
                          <a:solidFill>
                            <a:srgbClr val="0F172A"/>
                          </a:solidFill>
                          <a:latin typeface="Arial"/>
                        </a:defRPr>
                      </a:pPr>
                      <a:r>
                        <a:t>4.2619</a:t>
                      </a:r>
                    </a:p>
                  </a:txBody>
                  <a:tcPr>
                    <a:solidFill>
                      <a:srgbClr val="FFFFFF"/>
                    </a:solidFill>
                  </a:tcPr>
                </a:tc>
                <a:tc>
                  <a:txBody>
                    <a:bodyPr/>
                    <a:lstStyle/>
                    <a:p>
                      <a:pPr>
                        <a:defRPr sz="950">
                          <a:solidFill>
                            <a:srgbClr val="0F172A"/>
                          </a:solidFill>
                          <a:latin typeface="Arial"/>
                        </a:defRPr>
                      </a:pPr>
                      <a:r>
                        <a:t>3.2491</a:t>
                      </a:r>
                    </a:p>
                  </a:txBody>
                  <a:tcPr>
                    <a:solidFill>
                      <a:srgbClr val="FFFFFF"/>
                    </a:solidFill>
                  </a:tcPr>
                </a:tc>
                <a:tc>
                  <a:txBody>
                    <a:bodyPr/>
                    <a:lstStyle/>
                    <a:p>
                      <a:pPr>
                        <a:defRPr sz="950">
                          <a:solidFill>
                            <a:srgbClr val="0F172A"/>
                          </a:solidFill>
                          <a:latin typeface="Arial"/>
                        </a:defRPr>
                      </a:pPr>
                      <a:r>
                        <a:t>-0.0992</a:t>
                      </a:r>
                    </a:p>
                  </a:txBody>
                  <a:tcPr>
                    <a:solidFill>
                      <a:srgbClr val="FFFFFF"/>
                    </a:solidFill>
                  </a:tcPr>
                </a:tc>
                <a:tc>
                  <a:txBody>
                    <a:bodyPr/>
                    <a:lstStyle/>
                    <a:p>
                      <a:pPr>
                        <a:defRPr sz="950">
                          <a:solidFill>
                            <a:srgbClr val="0F172A"/>
                          </a:solidFill>
                          <a:latin typeface="Arial"/>
                        </a:defRPr>
                      </a:pPr>
                      <a:r>
                        <a:t>Underperforms (overfitting variance)</a:t>
                      </a:r>
                    </a:p>
                  </a:txBody>
                  <a:tcPr>
                    <a:solidFill>
                      <a:srgbClr val="FFFFFF"/>
                    </a:solidFill>
                  </a:tcPr>
                </a:tc>
              </a:tr>
              <a:tr h="457200">
                <a:tc>
                  <a:txBody>
                    <a:bodyPr/>
                    <a:lstStyle/>
                    <a:p>
                      <a:pPr>
                        <a:defRPr sz="950">
                          <a:solidFill>
                            <a:srgbClr val="0F172A"/>
                          </a:solidFill>
                          <a:latin typeface="Arial"/>
                        </a:defRPr>
                      </a:pPr>
                      <a:r>
                        <a:t>Training-Mean Baseline</a:t>
                      </a:r>
                    </a:p>
                  </a:txBody>
                  <a:tcPr>
                    <a:solidFill>
                      <a:srgbClr val="F1F5F9"/>
                    </a:solidFill>
                  </a:tcPr>
                </a:tc>
                <a:tc>
                  <a:txBody>
                    <a:bodyPr/>
                    <a:lstStyle/>
                    <a:p>
                      <a:pPr>
                        <a:defRPr sz="950">
                          <a:solidFill>
                            <a:srgbClr val="0F172A"/>
                          </a:solidFill>
                          <a:latin typeface="Arial"/>
                        </a:defRPr>
                      </a:pPr>
                      <a:r>
                        <a:t>Predicts y_bar = 10.4082</a:t>
                      </a:r>
                    </a:p>
                  </a:txBody>
                  <a:tcPr>
                    <a:solidFill>
                      <a:srgbClr val="F1F5F9"/>
                    </a:solidFill>
                  </a:tcPr>
                </a:tc>
                <a:tc>
                  <a:txBody>
                    <a:bodyPr/>
                    <a:lstStyle/>
                    <a:p>
                      <a:pPr>
                        <a:defRPr sz="950">
                          <a:solidFill>
                            <a:srgbClr val="0F172A"/>
                          </a:solidFill>
                          <a:latin typeface="Arial"/>
                        </a:defRPr>
                      </a:pPr>
                      <a:r>
                        <a:t>16.5264</a:t>
                      </a:r>
                    </a:p>
                  </a:txBody>
                  <a:tcPr>
                    <a:solidFill>
                      <a:srgbClr val="F1F5F9"/>
                    </a:solidFill>
                  </a:tcPr>
                </a:tc>
                <a:tc>
                  <a:txBody>
                    <a:bodyPr/>
                    <a:lstStyle/>
                    <a:p>
                      <a:pPr>
                        <a:defRPr sz="950">
                          <a:solidFill>
                            <a:srgbClr val="0F172A"/>
                          </a:solidFill>
                          <a:latin typeface="Arial"/>
                        </a:defRPr>
                      </a:pPr>
                      <a:r>
                        <a:t>4.0653</a:t>
                      </a:r>
                    </a:p>
                  </a:txBody>
                  <a:tcPr>
                    <a:solidFill>
                      <a:srgbClr val="F1F5F9"/>
                    </a:solidFill>
                  </a:tcPr>
                </a:tc>
                <a:tc>
                  <a:txBody>
                    <a:bodyPr/>
                    <a:lstStyle/>
                    <a:p>
                      <a:pPr>
                        <a:defRPr sz="950">
                          <a:solidFill>
                            <a:srgbClr val="0F172A"/>
                          </a:solidFill>
                          <a:latin typeface="Arial"/>
                        </a:defRPr>
                      </a:pPr>
                      <a:r>
                        <a:t>2.9995</a:t>
                      </a:r>
                    </a:p>
                  </a:txBody>
                  <a:tcPr>
                    <a:solidFill>
                      <a:srgbClr val="F1F5F9"/>
                    </a:solidFill>
                  </a:tcPr>
                </a:tc>
                <a:tc>
                  <a:txBody>
                    <a:bodyPr/>
                    <a:lstStyle/>
                    <a:p>
                      <a:pPr>
                        <a:defRPr sz="950">
                          <a:solidFill>
                            <a:srgbClr val="0F172A"/>
                          </a:solidFill>
                          <a:latin typeface="Arial"/>
                        </a:defRPr>
                      </a:pPr>
                      <a:r>
                        <a:t>-0.0001</a:t>
                      </a:r>
                    </a:p>
                  </a:txBody>
                  <a:tcPr>
                    <a:solidFill>
                      <a:srgbClr val="F1F5F9"/>
                    </a:solidFill>
                  </a:tcPr>
                </a:tc>
                <a:tc>
                  <a:txBody>
                    <a:bodyPr/>
                    <a:lstStyle/>
                    <a:p>
                      <a:pPr>
                        <a:defRPr sz="950">
                          <a:solidFill>
                            <a:srgbClr val="0F172A"/>
                          </a:solidFill>
                          <a:latin typeface="Arial"/>
                        </a:defRPr>
                      </a:pPr>
                      <a:r>
                        <a:t>Domain Reference Benchmark</a:t>
                      </a:r>
                    </a:p>
                  </a:txBody>
                  <a:tcPr>
                    <a:solidFill>
                      <a:srgbClr val="F1F5F9"/>
                    </a:solidFill>
                  </a:tcPr>
                </a:tc>
              </a:tr>
            </a:tbl>
          </a:graphicData>
        </a:graphic>
      </p:graphicFrame>
      <p:sp>
        <p:nvSpPr>
          <p:cNvPr id="4" name="TextBox 3"/>
          <p:cNvSpPr txBox="1"/>
          <p:nvPr/>
        </p:nvSpPr>
        <p:spPr>
          <a:xfrm>
            <a:off x="731520" y="3931920"/>
            <a:ext cx="5303520" cy="2468880"/>
          </a:xfrm>
          <a:prstGeom prst="rect">
            <a:avLst/>
          </a:prstGeom>
          <a:noFill/>
        </p:spPr>
        <p:txBody>
          <a:bodyPr wrap="square">
            <a:spAutoFit/>
          </a:bodyPr>
          <a:lstStyle/>
          <a:p>
            <a:pPr>
              <a:defRPr b="1" sz="1200">
                <a:solidFill>
                  <a:srgbClr val="1E3A8A"/>
                </a:solidFill>
              </a:defRPr>
            </a:pPr>
            <a:r>
              <a:t>Key Empirical Regression Findings:</a:t>
            </a:r>
          </a:p>
          <a:p>
            <a:pPr>
              <a:spcBef>
                <a:spcPts val="300"/>
              </a:spcBef>
              <a:defRPr sz="1000"/>
            </a:pPr>
            <a:r>
              <a:t>• Baseline Performance: Predicting training mean (10.41) yields test MSE 16.53 and R² = -0.0001.</a:t>
            </a:r>
          </a:p>
          <a:p>
            <a:pPr>
              <a:spcBef>
                <a:spcPts val="300"/>
              </a:spcBef>
              <a:defRPr sz="1000"/>
            </a:pPr>
            <a:r>
              <a:t>• Unregularized OLS Overfitting: Fitting 40 features on 316 samples inflates weight variance, yielding negative R² (-0.0992).</a:t>
            </a:r>
          </a:p>
          <a:p>
            <a:pPr>
              <a:spcBef>
                <a:spcPts val="300"/>
              </a:spcBef>
              <a:defRPr sz="1000"/>
            </a:pPr>
            <a:r>
              <a:t>• L2 Shrinkage Efficacy: Moderate regularization (lambda=5.0) shrinks noise weights, reducing MSE to 15.53 and delivering positive R² (+0.0600).</a:t>
            </a:r>
          </a:p>
          <a:p>
            <a:pPr>
              <a:spcBef>
                <a:spcPts val="300"/>
              </a:spcBef>
              <a:defRPr sz="1000"/>
            </a:pPr>
            <a:r>
              <a:t>• Solver Convergence: GD and Normal Equation agree within 1e-14, confirming theoretical parity.</a:t>
            </a:r>
          </a:p>
        </p:txBody>
      </p:sp>
      <p:pic>
        <p:nvPicPr>
          <p:cNvPr id="5" name="Picture 4" descr="actual_vs_predicted_scores.png"/>
          <p:cNvPicPr>
            <a:picLocks noChangeAspect="1"/>
          </p:cNvPicPr>
          <p:nvPr/>
        </p:nvPicPr>
        <p:blipFill>
          <a:blip r:embed="rId2"/>
          <a:stretch>
            <a:fillRect/>
          </a:stretch>
        </p:blipFill>
        <p:spPr>
          <a:xfrm>
            <a:off x="6217920" y="3840480"/>
            <a:ext cx="5212080" cy="446749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TASK 2: ACADEMIC RISK</a:t>
            </a:r>
          </a:p>
          <a:p>
            <a:pPr>
              <a:defRPr sz="2200" b="1">
                <a:solidFill>
                  <a:srgbClr val="1E3A8A"/>
                </a:solidFill>
                <a:latin typeface="Arial"/>
              </a:defRPr>
            </a:pPr>
            <a:r>
              <a:t>Classification Results &amp; Confusion Matrices</a:t>
            </a:r>
          </a:p>
        </p:txBody>
      </p:sp>
      <p:graphicFrame>
        <p:nvGraphicFramePr>
          <p:cNvPr id="3" name="Table 2"/>
          <p:cNvGraphicFramePr>
            <a:graphicFrameLocks noGrp="1"/>
          </p:cNvGraphicFramePr>
          <p:nvPr/>
        </p:nvGraphicFramePr>
        <p:xfrm>
          <a:off x="731520" y="1371600"/>
          <a:ext cx="10698480" cy="2286000"/>
        </p:xfrm>
        <a:graphic>
          <a:graphicData uri="http://schemas.openxmlformats.org/drawingml/2006/table">
            <a:tbl>
              <a:tblPr firstRow="1" bandRow="1">
                <a:tableStyleId>{5C22544A-7EE6-4342-B048-85BDC9FD1C3A}</a:tableStyleId>
              </a:tblPr>
              <a:tblGrid>
                <a:gridCol w="1528354"/>
                <a:gridCol w="1528354"/>
                <a:gridCol w="1528354"/>
                <a:gridCol w="1528354"/>
                <a:gridCol w="1528354"/>
                <a:gridCol w="1528354"/>
                <a:gridCol w="1528356"/>
              </a:tblGrid>
              <a:tr h="457200">
                <a:tc>
                  <a:txBody>
                    <a:bodyPr/>
                    <a:lstStyle/>
                    <a:p>
                      <a:pPr>
                        <a:defRPr sz="950" b="1">
                          <a:solidFill>
                            <a:srgbClr val="FFFFFF"/>
                          </a:solidFill>
                          <a:latin typeface="Arial"/>
                        </a:defRPr>
                      </a:pPr>
                      <a:r>
                        <a:t>Model / Configuration</a:t>
                      </a:r>
                    </a:p>
                  </a:txBody>
                  <a:tcPr>
                    <a:solidFill>
                      <a:srgbClr val="1E3A8A"/>
                    </a:solidFill>
                  </a:tcPr>
                </a:tc>
                <a:tc>
                  <a:txBody>
                    <a:bodyPr/>
                    <a:lstStyle/>
                    <a:p>
                      <a:pPr>
                        <a:defRPr sz="950" b="1">
                          <a:solidFill>
                            <a:srgbClr val="FFFFFF"/>
                          </a:solidFill>
                          <a:latin typeface="Arial"/>
                        </a:defRPr>
                      </a:pPr>
                      <a:r>
                        <a:t>Accuracy</a:t>
                      </a:r>
                    </a:p>
                  </a:txBody>
                  <a:tcPr>
                    <a:solidFill>
                      <a:srgbClr val="1E3A8A"/>
                    </a:solidFill>
                  </a:tcPr>
                </a:tc>
                <a:tc>
                  <a:txBody>
                    <a:bodyPr/>
                    <a:lstStyle/>
                    <a:p>
                      <a:pPr>
                        <a:defRPr sz="950" b="1">
                          <a:solidFill>
                            <a:srgbClr val="FFFFFF"/>
                          </a:solidFill>
                          <a:latin typeface="Arial"/>
                        </a:defRPr>
                      </a:pPr>
                      <a:r>
                        <a:t>Precision</a:t>
                      </a:r>
                    </a:p>
                  </a:txBody>
                  <a:tcPr>
                    <a:solidFill>
                      <a:srgbClr val="1E3A8A"/>
                    </a:solidFill>
                  </a:tcPr>
                </a:tc>
                <a:tc>
                  <a:txBody>
                    <a:bodyPr/>
                    <a:lstStyle/>
                    <a:p>
                      <a:pPr>
                        <a:defRPr sz="950" b="1">
                          <a:solidFill>
                            <a:srgbClr val="FFFFFF"/>
                          </a:solidFill>
                          <a:latin typeface="Arial"/>
                        </a:defRPr>
                      </a:pPr>
                      <a:r>
                        <a:t>Recall</a:t>
                      </a:r>
                    </a:p>
                  </a:txBody>
                  <a:tcPr>
                    <a:solidFill>
                      <a:srgbClr val="1E3A8A"/>
                    </a:solidFill>
                  </a:tcPr>
                </a:tc>
                <a:tc>
                  <a:txBody>
                    <a:bodyPr/>
                    <a:lstStyle/>
                    <a:p>
                      <a:pPr>
                        <a:defRPr sz="950" b="1">
                          <a:solidFill>
                            <a:srgbClr val="FFFFFF"/>
                          </a:solidFill>
                          <a:latin typeface="Arial"/>
                        </a:defRPr>
                      </a:pPr>
                      <a:r>
                        <a:t>F1 Score</a:t>
                      </a:r>
                    </a:p>
                  </a:txBody>
                  <a:tcPr>
                    <a:solidFill>
                      <a:srgbClr val="1E3A8A"/>
                    </a:solidFill>
                  </a:tcPr>
                </a:tc>
                <a:tc>
                  <a:txBody>
                    <a:bodyPr/>
                    <a:lstStyle/>
                    <a:p>
                      <a:pPr>
                        <a:defRPr sz="950" b="1">
                          <a:solidFill>
                            <a:srgbClr val="FFFFFF"/>
                          </a:solidFill>
                          <a:latin typeface="Arial"/>
                        </a:defRPr>
                      </a:pPr>
                      <a:r>
                        <a:t>ROC-AUC</a:t>
                      </a:r>
                    </a:p>
                  </a:txBody>
                  <a:tcPr>
                    <a:solidFill>
                      <a:srgbClr val="1E3A8A"/>
                    </a:solidFill>
                  </a:tcPr>
                </a:tc>
                <a:tc>
                  <a:txBody>
                    <a:bodyPr/>
                    <a:lstStyle/>
                    <a:p>
                      <a:pPr>
                        <a:defRPr sz="950" b="1">
                          <a:solidFill>
                            <a:srgbClr val="FFFFFF"/>
                          </a:solidFill>
                          <a:latin typeface="Arial"/>
                        </a:defRPr>
                      </a:pPr>
                      <a:r>
                        <a:t>Holdout Contingency (N=79)</a:t>
                      </a:r>
                    </a:p>
                  </a:txBody>
                  <a:tcPr>
                    <a:solidFill>
                      <a:srgbClr val="1E3A8A"/>
                    </a:solidFill>
                  </a:tcPr>
                </a:tc>
              </a:tr>
              <a:tr h="457200">
                <a:tc>
                  <a:txBody>
                    <a:bodyPr/>
                    <a:lstStyle/>
                    <a:p>
                      <a:pPr>
                        <a:defRPr sz="950">
                          <a:solidFill>
                            <a:srgbClr val="0F172A"/>
                          </a:solidFill>
                          <a:latin typeface="Arial"/>
                        </a:defRPr>
                      </a:pPr>
                      <a:r>
                        <a:t>Custom Decision Tree (Selected, depth=2)</a:t>
                      </a:r>
                    </a:p>
                  </a:txBody>
                  <a:tcPr>
                    <a:solidFill>
                      <a:srgbClr val="FFFFFF"/>
                    </a:solidFill>
                  </a:tcPr>
                </a:tc>
                <a:tc>
                  <a:txBody>
                    <a:bodyPr/>
                    <a:lstStyle/>
                    <a:p>
                      <a:pPr>
                        <a:defRPr sz="950">
                          <a:solidFill>
                            <a:srgbClr val="0F172A"/>
                          </a:solidFill>
                          <a:latin typeface="Arial"/>
                        </a:defRPr>
                      </a:pPr>
                      <a:r>
                        <a:t>69.62%</a:t>
                      </a:r>
                    </a:p>
                  </a:txBody>
                  <a:tcPr>
                    <a:solidFill>
                      <a:srgbClr val="FFFFFF"/>
                    </a:solidFill>
                  </a:tcPr>
                </a:tc>
                <a:tc>
                  <a:txBody>
                    <a:bodyPr/>
                    <a:lstStyle/>
                    <a:p>
                      <a:pPr>
                        <a:defRPr sz="950">
                          <a:solidFill>
                            <a:srgbClr val="0F172A"/>
                          </a:solidFill>
                          <a:latin typeface="Arial"/>
                        </a:defRPr>
                      </a:pPr>
                      <a:r>
                        <a:t>0.5500</a:t>
                      </a:r>
                    </a:p>
                  </a:txBody>
                  <a:tcPr>
                    <a:solidFill>
                      <a:srgbClr val="FFFFFF"/>
                    </a:solidFill>
                  </a:tcPr>
                </a:tc>
                <a:tc>
                  <a:txBody>
                    <a:bodyPr/>
                    <a:lstStyle/>
                    <a:p>
                      <a:pPr>
                        <a:defRPr sz="950">
                          <a:solidFill>
                            <a:srgbClr val="0F172A"/>
                          </a:solidFill>
                          <a:latin typeface="Arial"/>
                        </a:defRPr>
                      </a:pPr>
                      <a:r>
                        <a:t>0.4231</a:t>
                      </a:r>
                    </a:p>
                  </a:txBody>
                  <a:tcPr>
                    <a:solidFill>
                      <a:srgbClr val="FFFFFF"/>
                    </a:solidFill>
                  </a:tcPr>
                </a:tc>
                <a:tc>
                  <a:txBody>
                    <a:bodyPr/>
                    <a:lstStyle/>
                    <a:p>
                      <a:pPr>
                        <a:defRPr sz="950">
                          <a:solidFill>
                            <a:srgbClr val="0F172A"/>
                          </a:solidFill>
                          <a:latin typeface="Arial"/>
                        </a:defRPr>
                      </a:pPr>
                      <a:r>
                        <a:t>0.4783</a:t>
                      </a:r>
                    </a:p>
                  </a:txBody>
                  <a:tcPr>
                    <a:solidFill>
                      <a:srgbClr val="FFFFFF"/>
                    </a:solidFill>
                  </a:tcPr>
                </a:tc>
                <a:tc>
                  <a:txBody>
                    <a:bodyPr/>
                    <a:lstStyle/>
                    <a:p>
                      <a:pPr>
                        <a:defRPr sz="950">
                          <a:solidFill>
                            <a:srgbClr val="0F172A"/>
                          </a:solidFill>
                          <a:latin typeface="Arial"/>
                        </a:defRPr>
                      </a:pPr>
                      <a:r>
                        <a:t>0.6161</a:t>
                      </a:r>
                    </a:p>
                  </a:txBody>
                  <a:tcPr>
                    <a:solidFill>
                      <a:srgbClr val="FFFFFF"/>
                    </a:solidFill>
                  </a:tcPr>
                </a:tc>
                <a:tc>
                  <a:txBody>
                    <a:bodyPr/>
                    <a:lstStyle/>
                    <a:p>
                      <a:pPr>
                        <a:defRPr sz="950">
                          <a:solidFill>
                            <a:srgbClr val="0F172A"/>
                          </a:solidFill>
                          <a:latin typeface="Arial"/>
                        </a:defRPr>
                      </a:pPr>
                      <a:r>
                        <a:t>TN=44, FP=9, FN=15, TP=11</a:t>
                      </a:r>
                    </a:p>
                  </a:txBody>
                  <a:tcPr>
                    <a:solidFill>
                      <a:srgbClr val="FFFFFF"/>
                    </a:solidFill>
                  </a:tcPr>
                </a:tc>
              </a:tr>
              <a:tr h="457200">
                <a:tc>
                  <a:txBody>
                    <a:bodyPr/>
                    <a:lstStyle/>
                    <a:p>
                      <a:pPr>
                        <a:defRPr sz="950">
                          <a:solidFill>
                            <a:srgbClr val="0F172A"/>
                          </a:solidFill>
                          <a:latin typeface="Arial"/>
                        </a:defRPr>
                      </a:pPr>
                      <a:r>
                        <a:t>Custom Decision Tree (Original, depth=5)</a:t>
                      </a:r>
                    </a:p>
                  </a:txBody>
                  <a:tcPr>
                    <a:solidFill>
                      <a:srgbClr val="F1F5F9"/>
                    </a:solidFill>
                  </a:tcPr>
                </a:tc>
                <a:tc>
                  <a:txBody>
                    <a:bodyPr/>
                    <a:lstStyle/>
                    <a:p>
                      <a:pPr>
                        <a:defRPr sz="950">
                          <a:solidFill>
                            <a:srgbClr val="0F172A"/>
                          </a:solidFill>
                          <a:latin typeface="Arial"/>
                        </a:defRPr>
                      </a:pPr>
                      <a:r>
                        <a:t>67.09%</a:t>
                      </a:r>
                    </a:p>
                  </a:txBody>
                  <a:tcPr>
                    <a:solidFill>
                      <a:srgbClr val="F1F5F9"/>
                    </a:solidFill>
                  </a:tcPr>
                </a:tc>
                <a:tc>
                  <a:txBody>
                    <a:bodyPr/>
                    <a:lstStyle/>
                    <a:p>
                      <a:pPr>
                        <a:defRPr sz="950">
                          <a:solidFill>
                            <a:srgbClr val="0F172A"/>
                          </a:solidFill>
                          <a:latin typeface="Arial"/>
                        </a:defRPr>
                      </a:pPr>
                      <a:r>
                        <a:t>0.5000</a:t>
                      </a:r>
                    </a:p>
                  </a:txBody>
                  <a:tcPr>
                    <a:solidFill>
                      <a:srgbClr val="F1F5F9"/>
                    </a:solidFill>
                  </a:tcPr>
                </a:tc>
                <a:tc>
                  <a:txBody>
                    <a:bodyPr/>
                    <a:lstStyle/>
                    <a:p>
                      <a:pPr>
                        <a:defRPr sz="950">
                          <a:solidFill>
                            <a:srgbClr val="0F172A"/>
                          </a:solidFill>
                          <a:latin typeface="Arial"/>
                        </a:defRPr>
                      </a:pPr>
                      <a:r>
                        <a:t>0.3462</a:t>
                      </a:r>
                    </a:p>
                  </a:txBody>
                  <a:tcPr>
                    <a:solidFill>
                      <a:srgbClr val="F1F5F9"/>
                    </a:solidFill>
                  </a:tcPr>
                </a:tc>
                <a:tc>
                  <a:txBody>
                    <a:bodyPr/>
                    <a:lstStyle/>
                    <a:p>
                      <a:pPr>
                        <a:defRPr sz="950">
                          <a:solidFill>
                            <a:srgbClr val="0F172A"/>
                          </a:solidFill>
                          <a:latin typeface="Arial"/>
                        </a:defRPr>
                      </a:pPr>
                      <a:r>
                        <a:t>0.4091</a:t>
                      </a:r>
                    </a:p>
                  </a:txBody>
                  <a:tcPr>
                    <a:solidFill>
                      <a:srgbClr val="F1F5F9"/>
                    </a:solidFill>
                  </a:tcPr>
                </a:tc>
                <a:tc>
                  <a:txBody>
                    <a:bodyPr/>
                    <a:lstStyle/>
                    <a:p>
                      <a:pPr>
                        <a:defRPr sz="950">
                          <a:solidFill>
                            <a:srgbClr val="0F172A"/>
                          </a:solidFill>
                          <a:latin typeface="Arial"/>
                        </a:defRPr>
                      </a:pPr>
                      <a:r>
                        <a:t>0.4989</a:t>
                      </a:r>
                    </a:p>
                  </a:txBody>
                  <a:tcPr>
                    <a:solidFill>
                      <a:srgbClr val="F1F5F9"/>
                    </a:solidFill>
                  </a:tcPr>
                </a:tc>
                <a:tc>
                  <a:txBody>
                    <a:bodyPr/>
                    <a:lstStyle/>
                    <a:p>
                      <a:pPr>
                        <a:defRPr sz="950">
                          <a:solidFill>
                            <a:srgbClr val="0F172A"/>
                          </a:solidFill>
                          <a:latin typeface="Arial"/>
                        </a:defRPr>
                      </a:pPr>
                      <a:r>
                        <a:t>TN=44, FP=9, FN=17, TP=9</a:t>
                      </a:r>
                    </a:p>
                  </a:txBody>
                  <a:tcPr>
                    <a:solidFill>
                      <a:srgbClr val="F1F5F9"/>
                    </a:solidFill>
                  </a:tcPr>
                </a:tc>
              </a:tr>
              <a:tr h="457200">
                <a:tc>
                  <a:txBody>
                    <a:bodyPr/>
                    <a:lstStyle/>
                    <a:p>
                      <a:pPr>
                        <a:defRPr sz="950">
                          <a:solidFill>
                            <a:srgbClr val="0F172A"/>
                          </a:solidFill>
                          <a:latin typeface="Arial"/>
                        </a:defRPr>
                      </a:pPr>
                      <a:r>
                        <a:t>Custom KNN Classifier (Comparison Baseline, k=5)</a:t>
                      </a:r>
                    </a:p>
                  </a:txBody>
                  <a:tcPr>
                    <a:solidFill>
                      <a:srgbClr val="FFFFFF"/>
                    </a:solidFill>
                  </a:tcPr>
                </a:tc>
                <a:tc>
                  <a:txBody>
                    <a:bodyPr/>
                    <a:lstStyle/>
                    <a:p>
                      <a:pPr>
                        <a:defRPr sz="950">
                          <a:solidFill>
                            <a:srgbClr val="0F172A"/>
                          </a:solidFill>
                          <a:latin typeface="Arial"/>
                        </a:defRPr>
                      </a:pPr>
                      <a:r>
                        <a:t>64.56%</a:t>
                      </a:r>
                    </a:p>
                  </a:txBody>
                  <a:tcPr>
                    <a:solidFill>
                      <a:srgbClr val="FFFFFF"/>
                    </a:solidFill>
                  </a:tcPr>
                </a:tc>
                <a:tc>
                  <a:txBody>
                    <a:bodyPr/>
                    <a:lstStyle/>
                    <a:p>
                      <a:pPr>
                        <a:defRPr sz="950">
                          <a:solidFill>
                            <a:srgbClr val="0F172A"/>
                          </a:solidFill>
                          <a:latin typeface="Arial"/>
                        </a:defRPr>
                      </a:pPr>
                      <a:r>
                        <a:t>0.4167</a:t>
                      </a:r>
                    </a:p>
                  </a:txBody>
                  <a:tcPr>
                    <a:solidFill>
                      <a:srgbClr val="FFFFFF"/>
                    </a:solidFill>
                  </a:tcPr>
                </a:tc>
                <a:tc>
                  <a:txBody>
                    <a:bodyPr/>
                    <a:lstStyle/>
                    <a:p>
                      <a:pPr>
                        <a:defRPr sz="950">
                          <a:solidFill>
                            <a:srgbClr val="0F172A"/>
                          </a:solidFill>
                          <a:latin typeface="Arial"/>
                        </a:defRPr>
                      </a:pPr>
                      <a:r>
                        <a:t>0.1923</a:t>
                      </a:r>
                    </a:p>
                  </a:txBody>
                  <a:tcPr>
                    <a:solidFill>
                      <a:srgbClr val="FFFFFF"/>
                    </a:solidFill>
                  </a:tcPr>
                </a:tc>
                <a:tc>
                  <a:txBody>
                    <a:bodyPr/>
                    <a:lstStyle/>
                    <a:p>
                      <a:pPr>
                        <a:defRPr sz="950">
                          <a:solidFill>
                            <a:srgbClr val="0F172A"/>
                          </a:solidFill>
                          <a:latin typeface="Arial"/>
                        </a:defRPr>
                      </a:pPr>
                      <a:r>
                        <a:t>0.2632</a:t>
                      </a:r>
                    </a:p>
                  </a:txBody>
                  <a:tcPr>
                    <a:solidFill>
                      <a:srgbClr val="FFFFFF"/>
                    </a:solidFill>
                  </a:tcPr>
                </a:tc>
                <a:tc>
                  <a:txBody>
                    <a:bodyPr/>
                    <a:lstStyle/>
                    <a:p>
                      <a:pPr>
                        <a:defRPr sz="950">
                          <a:solidFill>
                            <a:srgbClr val="0F172A"/>
                          </a:solidFill>
                          <a:latin typeface="Arial"/>
                        </a:defRPr>
                      </a:pPr>
                      <a:r>
                        <a:t>0.5653</a:t>
                      </a:r>
                    </a:p>
                  </a:txBody>
                  <a:tcPr>
                    <a:solidFill>
                      <a:srgbClr val="FFFFFF"/>
                    </a:solidFill>
                  </a:tcPr>
                </a:tc>
                <a:tc>
                  <a:txBody>
                    <a:bodyPr/>
                    <a:lstStyle/>
                    <a:p>
                      <a:pPr>
                        <a:defRPr sz="950">
                          <a:solidFill>
                            <a:srgbClr val="0F172A"/>
                          </a:solidFill>
                          <a:latin typeface="Arial"/>
                        </a:defRPr>
                      </a:pPr>
                      <a:r>
                        <a:t>TN=46, FP=7, FN=21, TP=5</a:t>
                      </a:r>
                    </a:p>
                  </a:txBody>
                  <a:tcPr>
                    <a:solidFill>
                      <a:srgbClr val="FFFFFF"/>
                    </a:solidFill>
                  </a:tcPr>
                </a:tc>
              </a:tr>
              <a:tr h="457200">
                <a:tc>
                  <a:txBody>
                    <a:bodyPr/>
                    <a:lstStyle/>
                    <a:p>
                      <a:pPr>
                        <a:defRPr sz="950">
                          <a:solidFill>
                            <a:srgbClr val="0F172A"/>
                          </a:solidFill>
                          <a:latin typeface="Arial"/>
                        </a:defRPr>
                      </a:pPr>
                      <a:r>
                        <a:t>Majority-Class Baseline (Always 0)</a:t>
                      </a:r>
                    </a:p>
                  </a:txBody>
                  <a:tcPr>
                    <a:solidFill>
                      <a:srgbClr val="F1F5F9"/>
                    </a:solidFill>
                  </a:tcPr>
                </a:tc>
                <a:tc>
                  <a:txBody>
                    <a:bodyPr/>
                    <a:lstStyle/>
                    <a:p>
                      <a:pPr>
                        <a:defRPr sz="950">
                          <a:solidFill>
                            <a:srgbClr val="0F172A"/>
                          </a:solidFill>
                          <a:latin typeface="Arial"/>
                        </a:defRPr>
                      </a:pPr>
                      <a:r>
                        <a:t>67.09%</a:t>
                      </a:r>
                    </a:p>
                  </a:txBody>
                  <a:tcPr>
                    <a:solidFill>
                      <a:srgbClr val="F1F5F9"/>
                    </a:solidFill>
                  </a:tcPr>
                </a:tc>
                <a:tc>
                  <a:txBody>
                    <a:bodyPr/>
                    <a:lstStyle/>
                    <a:p>
                      <a:pPr>
                        <a:defRPr sz="950">
                          <a:solidFill>
                            <a:srgbClr val="0F172A"/>
                          </a:solidFill>
                          <a:latin typeface="Arial"/>
                        </a:defRPr>
                      </a:pPr>
                      <a:r>
                        <a:t>0.0000</a:t>
                      </a:r>
                    </a:p>
                  </a:txBody>
                  <a:tcPr>
                    <a:solidFill>
                      <a:srgbClr val="F1F5F9"/>
                    </a:solidFill>
                  </a:tcPr>
                </a:tc>
                <a:tc>
                  <a:txBody>
                    <a:bodyPr/>
                    <a:lstStyle/>
                    <a:p>
                      <a:pPr>
                        <a:defRPr sz="950">
                          <a:solidFill>
                            <a:srgbClr val="0F172A"/>
                          </a:solidFill>
                          <a:latin typeface="Arial"/>
                        </a:defRPr>
                      </a:pPr>
                      <a:r>
                        <a:t>0.0000</a:t>
                      </a:r>
                    </a:p>
                  </a:txBody>
                  <a:tcPr>
                    <a:solidFill>
                      <a:srgbClr val="F1F5F9"/>
                    </a:solidFill>
                  </a:tcPr>
                </a:tc>
                <a:tc>
                  <a:txBody>
                    <a:bodyPr/>
                    <a:lstStyle/>
                    <a:p>
                      <a:pPr>
                        <a:defRPr sz="950">
                          <a:solidFill>
                            <a:srgbClr val="0F172A"/>
                          </a:solidFill>
                          <a:latin typeface="Arial"/>
                        </a:defRPr>
                      </a:pPr>
                      <a:r>
                        <a:t>0.0000</a:t>
                      </a:r>
                    </a:p>
                  </a:txBody>
                  <a:tcPr>
                    <a:solidFill>
                      <a:srgbClr val="F1F5F9"/>
                    </a:solidFill>
                  </a:tcPr>
                </a:tc>
                <a:tc>
                  <a:txBody>
                    <a:bodyPr/>
                    <a:lstStyle/>
                    <a:p>
                      <a:pPr>
                        <a:defRPr sz="950">
                          <a:solidFill>
                            <a:srgbClr val="0F172A"/>
                          </a:solidFill>
                          <a:latin typeface="Arial"/>
                        </a:defRPr>
                      </a:pPr>
                      <a:r>
                        <a:t>0.5000</a:t>
                      </a:r>
                    </a:p>
                  </a:txBody>
                  <a:tcPr>
                    <a:solidFill>
                      <a:srgbClr val="F1F5F9"/>
                    </a:solidFill>
                  </a:tcPr>
                </a:tc>
                <a:tc>
                  <a:txBody>
                    <a:bodyPr/>
                    <a:lstStyle/>
                    <a:p>
                      <a:pPr>
                        <a:defRPr sz="950">
                          <a:solidFill>
                            <a:srgbClr val="0F172A"/>
                          </a:solidFill>
                          <a:latin typeface="Arial"/>
                        </a:defRPr>
                      </a:pPr>
                      <a:r>
                        <a:t>TN=53, FP=0, FN=26, TP=0</a:t>
                      </a:r>
                    </a:p>
                  </a:txBody>
                  <a:tcPr>
                    <a:solidFill>
                      <a:srgbClr val="F1F5F9"/>
                    </a:solidFill>
                  </a:tcPr>
                </a:tc>
              </a:tr>
            </a:tbl>
          </a:graphicData>
        </a:graphic>
      </p:graphicFrame>
      <p:pic>
        <p:nvPicPr>
          <p:cNvPr id="4" name="Picture 3" descr="confusion_matrix.png"/>
          <p:cNvPicPr>
            <a:picLocks noChangeAspect="1"/>
          </p:cNvPicPr>
          <p:nvPr/>
        </p:nvPicPr>
        <p:blipFill>
          <a:blip r:embed="rId2"/>
          <a:stretch>
            <a:fillRect/>
          </a:stretch>
        </p:blipFill>
        <p:spPr>
          <a:xfrm>
            <a:off x="731520" y="3931920"/>
            <a:ext cx="4114800" cy="3429000"/>
          </a:xfrm>
          <a:prstGeom prst="rect">
            <a:avLst/>
          </a:prstGeom>
        </p:spPr>
      </p:pic>
      <p:pic>
        <p:nvPicPr>
          <p:cNvPr id="5" name="Picture 4" descr="roc_curves.png"/>
          <p:cNvPicPr>
            <a:picLocks noChangeAspect="1"/>
          </p:cNvPicPr>
          <p:nvPr/>
        </p:nvPicPr>
        <p:blipFill>
          <a:blip r:embed="rId3"/>
          <a:stretch>
            <a:fillRect/>
          </a:stretch>
        </p:blipFill>
        <p:spPr>
          <a:xfrm>
            <a:off x="5120640" y="3931920"/>
            <a:ext cx="4114800" cy="3086100"/>
          </a:xfrm>
          <a:prstGeom prst="rect">
            <a:avLst/>
          </a:prstGeom>
        </p:spPr>
      </p:pic>
      <p:sp>
        <p:nvSpPr>
          <p:cNvPr id="6" name="TextBox 5"/>
          <p:cNvSpPr txBox="1"/>
          <p:nvPr/>
        </p:nvSpPr>
        <p:spPr>
          <a:xfrm>
            <a:off x="9418320" y="3931920"/>
            <a:ext cx="2011680" cy="2560320"/>
          </a:xfrm>
          <a:prstGeom prst="rect">
            <a:avLst/>
          </a:prstGeom>
          <a:noFill/>
        </p:spPr>
        <p:txBody>
          <a:bodyPr wrap="square">
            <a:spAutoFit/>
          </a:bodyPr>
          <a:lstStyle/>
          <a:p>
            <a:pPr>
              <a:defRPr b="1" sz="1100">
                <a:solidFill>
                  <a:srgbClr val="1E3A8A"/>
                </a:solidFill>
              </a:defRPr>
            </a:pPr>
            <a:r>
              <a:t>Triage Takeaways:</a:t>
            </a:r>
          </a:p>
          <a:p>
            <a:pPr>
              <a:spcBef>
                <a:spcPts val="300"/>
              </a:spcBef>
              <a:defRPr sz="950"/>
            </a:pPr>
            <a:r>
              <a:t>• Decision Tree beats majority baseline (69.62% vs 67.09%).</a:t>
            </a:r>
          </a:p>
          <a:p>
            <a:pPr>
              <a:spcBef>
                <a:spcPts val="300"/>
              </a:spcBef>
              <a:defRPr sz="950"/>
            </a:pPr>
            <a:r>
              <a:t>• Identifies 11 of 26 at-risk students out-of-sample.</a:t>
            </a:r>
          </a:p>
          <a:p>
            <a:pPr>
              <a:spcBef>
                <a:spcPts val="300"/>
              </a:spcBef>
              <a:defRPr sz="950"/>
            </a:pPr>
            <a:r>
              <a:t>• Pruning tree to depth=2 boosts ROC-AUC from 0.4989 to 0.6161.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DEPLOYMENT &amp; USABILITY</a:t>
            </a:r>
          </a:p>
          <a:p>
            <a:pPr>
              <a:defRPr sz="2200" b="1">
                <a:solidFill>
                  <a:srgbClr val="1E3A8A"/>
                </a:solidFill>
                <a:latin typeface="Arial"/>
              </a:defRPr>
            </a:pPr>
            <a:r>
              <a:t>Interactive Streamlit Web Dashboard &amp; CLI</a:t>
            </a:r>
          </a:p>
        </p:txBody>
      </p:sp>
      <p:sp>
        <p:nvSpPr>
          <p:cNvPr id="3" name="TextBox 2"/>
          <p:cNvSpPr txBox="1"/>
          <p:nvPr/>
        </p:nvSpPr>
        <p:spPr>
          <a:xfrm>
            <a:off x="731520" y="1280160"/>
            <a:ext cx="5303520" cy="4937760"/>
          </a:xfrm>
          <a:prstGeom prst="rect">
            <a:avLst/>
          </a:prstGeom>
          <a:noFill/>
        </p:spPr>
        <p:txBody>
          <a:bodyPr wrap="square">
            <a:spAutoFit/>
          </a:bodyPr>
          <a:lstStyle/>
          <a:p>
            <a:pPr>
              <a:defRPr b="1" sz="1300">
                <a:solidFill>
                  <a:srgbClr val="1E3A8A"/>
                </a:solidFill>
              </a:defRPr>
            </a:pPr>
            <a:r>
              <a:t>Dual Operational Modalities (Streamlit &amp; CLI):</a:t>
            </a:r>
          </a:p>
          <a:p>
            <a:pPr>
              <a:spcBef>
                <a:spcPts val="600"/>
              </a:spcBef>
              <a:defRPr sz="1050"/>
            </a:pPr>
            <a:r>
              <a:t>• Automated CLI Runner (run_experiments.py):</a:t>
            </a:r>
            <a:br/>
            <a:r>
              <a:t>• Single-command execution: python run_experiments.py --seed 42</a:t>
            </a:r>
            <a:br/>
            <a:r>
              <a:t>• Generates tabular benchmark results and 10 high-resolution diagnostic plots.</a:t>
            </a:r>
          </a:p>
          <a:p>
            <a:pPr>
              <a:spcBef>
                <a:spcPts val="600"/>
              </a:spcBef>
              <a:defRPr sz="1050"/>
            </a:pPr>
            <a:r>
              <a:t>• Interactive Dashboard Architecture (app.py):</a:t>
            </a:r>
            <a:br/>
            <a:r>
              <a:t>• Tab 1: Dataset Overview &amp; Missing Value Audits.</a:t>
            </a:r>
            <a:br/>
            <a:r>
              <a:t>• Tab 2: Regression Studio (Solver selection, GD learning rate sliders, live loss curves, and single-student grade inference).</a:t>
            </a:r>
            <a:br/>
            <a:r>
              <a:t>• Tab 3: Classification Studio (KNN &amp; Tree configuration, confusion matrices, ROC curves, and single-student failure risk probability).</a:t>
            </a:r>
            <a:br/>
            <a:r>
              <a:t>• Tab 4: Overfitting Explorer (Interactive bias-variance complexity curves).</a:t>
            </a:r>
            <a:br/>
            <a:r>
              <a:t>• Tab 5: Benchmark Suite (Side-by-side metric charts).</a:t>
            </a:r>
            <a:br/>
            <a:r>
              <a:t>• Tab 6: Architecture &amp; Methods (Mathematical formulations).</a:t>
            </a:r>
          </a:p>
          <a:p>
            <a:pPr>
              <a:spcBef>
                <a:spcPts val="600"/>
              </a:spcBef>
              <a:defRPr sz="1050"/>
            </a:pPr>
            <a:r>
              <a:t>• Programmatic Verification: Verified via test_app_logic.py (4 tests passing) and HTTP 200 health check probing.</a:t>
            </a:r>
          </a:p>
        </p:txBody>
      </p:sp>
      <p:pic>
        <p:nvPicPr>
          <p:cNvPr id="4" name="Picture 3" descr="classification_comparison.png"/>
          <p:cNvPicPr>
            <a:picLocks noChangeAspect="1"/>
          </p:cNvPicPr>
          <p:nvPr/>
        </p:nvPicPr>
        <p:blipFill>
          <a:blip r:embed="rId2"/>
          <a:stretch>
            <a:fillRect/>
          </a:stretch>
        </p:blipFill>
        <p:spPr>
          <a:xfrm>
            <a:off x="6217920" y="1463040"/>
            <a:ext cx="5212080" cy="286664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QUALITY ASSURANCE</a:t>
            </a:r>
          </a:p>
          <a:p>
            <a:pPr>
              <a:defRPr sz="2200" b="1">
                <a:solidFill>
                  <a:srgbClr val="1E3A8A"/>
                </a:solidFill>
                <a:latin typeface="Arial"/>
              </a:defRPr>
            </a:pPr>
            <a:r>
              <a:t>Software Verification &amp; Dependency Compliance</a:t>
            </a:r>
          </a:p>
        </p:txBody>
      </p:sp>
      <p:sp>
        <p:nvSpPr>
          <p:cNvPr id="3" name="TextBox 2"/>
          <p:cNvSpPr txBox="1"/>
          <p:nvPr/>
        </p:nvSpPr>
        <p:spPr>
          <a:xfrm>
            <a:off x="731520" y="1280160"/>
            <a:ext cx="5303520" cy="4937760"/>
          </a:xfrm>
          <a:prstGeom prst="rect">
            <a:avLst/>
          </a:prstGeom>
          <a:noFill/>
        </p:spPr>
        <p:txBody>
          <a:bodyPr wrap="square">
            <a:spAutoFit/>
          </a:bodyPr>
          <a:lstStyle/>
          <a:p>
            <a:pPr>
              <a:defRPr b="1" sz="1300">
                <a:solidFill>
                  <a:srgbClr val="1E3A8A"/>
                </a:solidFill>
              </a:defRPr>
            </a:pPr>
            <a:r>
              <a:t>Comprehensive Automated Test Suite (117 Tests):</a:t>
            </a:r>
          </a:p>
          <a:p>
            <a:pPr>
              <a:spcBef>
                <a:spcPts val="600"/>
              </a:spcBef>
              <a:defRPr sz="1050"/>
            </a:pPr>
            <a:r>
              <a:t>• Unittest Framework: Standard library unittest (python -m unittest discover tests) executed in ~8s with 100% pass rate (0 skipped).</a:t>
            </a:r>
          </a:p>
          <a:p>
            <a:pPr>
              <a:spcBef>
                <a:spcPts val="600"/>
              </a:spcBef>
              <a:defRPr sz="1050"/>
            </a:pPr>
            <a:r>
              <a:t>• AST Dependency Scanner (test_dependency_compliance.py):</a:t>
            </a:r>
            <a:br/>
            <a:r>
              <a:t>• Inspects Abstract Syntax Tree of all files in edupredict/.</a:t>
            </a:r>
            <a:br/>
            <a:r>
              <a:t>• Verifies 0 prohibited imports: zero numpy, pandas, sklearn, scipy, torch, tensorflow, math, or statistics.</a:t>
            </a:r>
          </a:p>
          <a:p>
            <a:pPr>
              <a:spcBef>
                <a:spcPts val="600"/>
              </a:spcBef>
              <a:defRPr sz="1050"/>
            </a:pPr>
            <a:r>
              <a:t>• Mathematical Parity Verification (test_models.py):</a:t>
            </a:r>
            <a:br/>
            <a:r>
              <a:t>• Analytical vs. numerical central finite differences gradient checks (err &lt; 1e-5).</a:t>
            </a:r>
            <a:br/>
            <a:r>
              <a:t>• Normal Equation vs. Gradient Descent high-precision convergence (&lt; 1e-12).</a:t>
            </a:r>
          </a:p>
          <a:p>
            <a:pPr>
              <a:spcBef>
                <a:spcPts val="600"/>
              </a:spcBef>
              <a:defRPr sz="1050"/>
            </a:pPr>
            <a:r>
              <a:t>• Data Boundary Verification (test_pipeline.py):</a:t>
            </a:r>
            <a:br/>
            <a:r>
              <a:t>• Verifies disjointness of 3-way split: Train-Sub, Val, and Holdout Test index sets have zero pairwise overlap.</a:t>
            </a:r>
          </a:p>
          <a:p>
            <a:pPr>
              <a:spcBef>
                <a:spcPts val="600"/>
              </a:spcBef>
              <a:defRPr sz="1050"/>
            </a:pPr>
            <a:r>
              <a:t>• Dashboard Logic Verification (test_app_logic.py):</a:t>
            </a:r>
            <a:br/>
            <a:r>
              <a:t>• Programmatically executes all 6 tab data flows without requiring browser GUI.</a:t>
            </a:r>
          </a:p>
        </p:txBody>
      </p:sp>
      <p:sp>
        <p:nvSpPr>
          <p:cNvPr id="4" name="Rounded Rectangle 3"/>
          <p:cNvSpPr/>
          <p:nvPr/>
        </p:nvSpPr>
        <p:spPr>
          <a:xfrm>
            <a:off x="6217920" y="1463040"/>
            <a:ext cx="5212080" cy="45720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300">
                <a:solidFill>
                  <a:srgbClr val="1E3A8A"/>
                </a:solidFill>
              </a:defRPr>
            </a:pPr>
            <a:r>
              <a:t>VERIFICATION METRICS AT A GLANCE</a:t>
            </a:r>
          </a:p>
          <a:p>
            <a:pPr>
              <a:spcBef>
                <a:spcPts val="600"/>
              </a:spcBef>
              <a:defRPr sz="1100">
                <a:solidFill>
                  <a:srgbClr val="0F172A"/>
                </a:solidFill>
              </a:defRPr>
            </a:pPr>
            <a:r>
              <a:t>✓ Total Test Modules: 17 distinct test files</a:t>
            </a:r>
          </a:p>
          <a:p>
            <a:pPr>
              <a:spcBef>
                <a:spcPts val="600"/>
              </a:spcBef>
              <a:defRPr sz="1100">
                <a:solidFill>
                  <a:srgbClr val="0F172A"/>
                </a:solidFill>
              </a:defRPr>
            </a:pPr>
            <a:r>
              <a:t>✓ Total Test Assertions: 117 automated tests (0 skipped)</a:t>
            </a:r>
          </a:p>
          <a:p>
            <a:pPr>
              <a:spcBef>
                <a:spcPts val="600"/>
              </a:spcBef>
              <a:defRPr sz="1100">
                <a:solidFill>
                  <a:srgbClr val="0F172A"/>
                </a:solidFill>
              </a:defRPr>
            </a:pPr>
            <a:r>
              <a:t>✓ Test Suite Runtime: ~13.3 seconds</a:t>
            </a:r>
          </a:p>
          <a:p>
            <a:pPr>
              <a:spcBef>
                <a:spcPts val="600"/>
              </a:spcBef>
              <a:defRPr sz="1100">
                <a:solidFill>
                  <a:srgbClr val="0F172A"/>
                </a:solidFill>
              </a:defRPr>
            </a:pPr>
            <a:r>
              <a:t>✓ Success Rate: 100% (0 failures, 0 errors)</a:t>
            </a:r>
          </a:p>
          <a:p>
            <a:pPr>
              <a:spcBef>
                <a:spcPts val="600"/>
              </a:spcBef>
              <a:defRPr sz="1100">
                <a:solidFill>
                  <a:srgbClr val="0F172A"/>
                </a:solidFill>
              </a:defRPr>
            </a:pPr>
            <a:r>
              <a:t>✓ Prohibited External Libraries: 0 (AST verified)</a:t>
            </a:r>
          </a:p>
          <a:p>
            <a:pPr>
              <a:spcBef>
                <a:spcPts val="600"/>
              </a:spcBef>
              <a:defRPr sz="1100">
                <a:solidFill>
                  <a:srgbClr val="0F172A"/>
                </a:solidFill>
              </a:defRPr>
            </a:pPr>
            <a:r>
              <a:t>✓ Standard Math/Stats in Core: 0 (AST verified)</a:t>
            </a:r>
          </a:p>
          <a:p>
            <a:pPr>
              <a:spcBef>
                <a:spcPts val="600"/>
              </a:spcBef>
              <a:defRPr sz="1100">
                <a:solidFill>
                  <a:srgbClr val="0F172A"/>
                </a:solidFill>
              </a:defRPr>
            </a:pPr>
            <a:r>
              <a:t>✓ Linear Regression Solver Gap: &lt; 1e-14</a:t>
            </a:r>
          </a:p>
          <a:p>
            <a:pPr>
              <a:spcBef>
                <a:spcPts val="600"/>
              </a:spcBef>
              <a:defRPr sz="1100">
                <a:solidFill>
                  <a:srgbClr val="0F172A"/>
                </a:solidFill>
              </a:defRPr>
            </a:pPr>
            <a:r>
              <a:t>✓ Decision Tree F1 Score: Exact match (11/23 = 0.4783)</a:t>
            </a:r>
          </a:p>
          <a:p>
            <a:pPr>
              <a:spcBef>
                <a:spcPts val="600"/>
              </a:spcBef>
              <a:defRPr sz="1100">
                <a:solidFill>
                  <a:srgbClr val="0F172A"/>
                </a:solidFill>
              </a:defRPr>
            </a:pPr>
            <a:r>
              <a:t>✓ Streamlit Health Endpoint: HTTP 200 OK (3.70s startup)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CRITICAL REFLECTION</a:t>
            </a:r>
          </a:p>
          <a:p>
            <a:pPr>
              <a:defRPr sz="2200" b="1">
                <a:solidFill>
                  <a:srgbClr val="1E3A8A"/>
                </a:solidFill>
                <a:latin typeface="Arial"/>
              </a:defRPr>
            </a:pPr>
            <a:r>
              <a:t>Limitations, Ethical Considerations &amp; Responsible Use</a:t>
            </a:r>
          </a:p>
        </p:txBody>
      </p:sp>
      <p:sp>
        <p:nvSpPr>
          <p:cNvPr id="3" name="TextBox 2"/>
          <p:cNvSpPr txBox="1"/>
          <p:nvPr/>
        </p:nvSpPr>
        <p:spPr>
          <a:xfrm>
            <a:off x="731520" y="1280160"/>
            <a:ext cx="5120640" cy="4937760"/>
          </a:xfrm>
          <a:prstGeom prst="rect">
            <a:avLst/>
          </a:prstGeom>
          <a:noFill/>
        </p:spPr>
        <p:txBody>
          <a:bodyPr wrap="square">
            <a:spAutoFit/>
          </a:bodyPr>
          <a:lstStyle/>
          <a:p>
            <a:pPr>
              <a:defRPr b="1" sz="1300">
                <a:solidFill>
                  <a:srgbClr val="1E3A8A"/>
                </a:solidFill>
              </a:defRPr>
            </a:pPr>
            <a:r>
              <a:t>Inherent Domain &amp; Algorithmic Limitations:</a:t>
            </a:r>
          </a:p>
          <a:p>
            <a:pPr>
              <a:spcBef>
                <a:spcPts val="600"/>
              </a:spcBef>
              <a:defRPr sz="1100"/>
            </a:pPr>
            <a:r>
              <a:t>• Modest Variance Explained (~6% R²):</a:t>
            </a:r>
            <a:br/>
            <a:r>
              <a:t>In early-term prediction without prior exam marks, non-academic lifestyle attributes carry weak linear predictive power. Model R² = +0.0600 reflects genuine observational signal, not a failure of implementation.</a:t>
            </a:r>
          </a:p>
          <a:p>
            <a:pPr>
              <a:spcBef>
                <a:spcPts val="600"/>
              </a:spcBef>
              <a:defRPr sz="1100"/>
            </a:pPr>
            <a:r>
              <a:t>• Class Imbalance &amp; Recall Tradeoff:</a:t>
            </a:r>
            <a:br/>
            <a:r>
              <a:t>At-risk students represent 32.9% of instances. While Decision Tree identifies 11 at-risk students (42.3% recall), 15 at-risk students are missed (false negatives) due to subtle feature distributions.</a:t>
            </a:r>
          </a:p>
          <a:p>
            <a:pPr>
              <a:spcBef>
                <a:spcPts val="600"/>
              </a:spcBef>
              <a:defRPr sz="1100"/>
            </a:pPr>
            <a:r>
              <a:t>• Observational Non-Causality:</a:t>
            </a:r>
            <a:br/>
            <a:r>
              <a:t>Features like romantic relationships or alcohol habits are observational associations; changing them does not guarantee grade improvements.</a:t>
            </a:r>
          </a:p>
        </p:txBody>
      </p:sp>
      <p:sp>
        <p:nvSpPr>
          <p:cNvPr id="4" name="TextBox 3"/>
          <p:cNvSpPr txBox="1"/>
          <p:nvPr/>
        </p:nvSpPr>
        <p:spPr>
          <a:xfrm>
            <a:off x="6217920" y="1280160"/>
            <a:ext cx="5120640" cy="4937760"/>
          </a:xfrm>
          <a:prstGeom prst="rect">
            <a:avLst/>
          </a:prstGeom>
          <a:noFill/>
        </p:spPr>
        <p:txBody>
          <a:bodyPr wrap="square">
            <a:spAutoFit/>
          </a:bodyPr>
          <a:lstStyle/>
          <a:p>
            <a:pPr>
              <a:defRPr b="1" sz="1300">
                <a:solidFill>
                  <a:srgbClr val="1E3A8A"/>
                </a:solidFill>
              </a:defRPr>
            </a:pPr>
            <a:r>
              <a:t>Ethical Framework &amp; Responsible Pedagogical Use:</a:t>
            </a:r>
          </a:p>
          <a:p>
            <a:pPr>
              <a:spcBef>
                <a:spcPts val="600"/>
              </a:spcBef>
              <a:defRPr sz="1100"/>
            </a:pPr>
            <a:r>
              <a:t>• Assistive Early Warning Only:</a:t>
            </a:r>
            <a:br/>
            <a:r>
              <a:t>Predictions must serve exclusively as assistive signals for advisors and tutors, NEVER as automated decision-makers for punitive actions.</a:t>
            </a:r>
          </a:p>
          <a:p>
            <a:pPr>
              <a:spcBef>
                <a:spcPts val="600"/>
              </a:spcBef>
              <a:defRPr sz="1100"/>
            </a:pPr>
            <a:r>
              <a:t>• Mitigating Demographic Stigmatization:</a:t>
            </a:r>
            <a:br/>
            <a:r>
              <a:t>Because socio-economic attributes are model inputs, predictions must trigger supportive tutoring rather than negative academic labelling.</a:t>
            </a:r>
          </a:p>
          <a:p>
            <a:pPr>
              <a:spcBef>
                <a:spcPts val="600"/>
              </a:spcBef>
              <a:defRPr sz="1100"/>
            </a:pPr>
            <a:r>
              <a:t>• Human-in-the-Loop Requirement:</a:t>
            </a:r>
            <a:br/>
            <a:r>
              <a:t>No consequential student action (e.g. course dismissal or scholarship review) should ever be made based solely on model risk flags.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D97706"/>
                </a:solidFill>
                <a:latin typeface="Arial"/>
              </a:defRPr>
            </a:pPr>
            <a:r>
              <a:t>SUMMARY</a:t>
            </a:r>
          </a:p>
          <a:p>
            <a:pPr>
              <a:defRPr sz="2200" b="1">
                <a:solidFill>
                  <a:srgbClr val="1E3A8A"/>
                </a:solidFill>
                <a:latin typeface="Arial"/>
              </a:defRPr>
            </a:pPr>
            <a:r>
              <a:t>Conclusion &amp; Future Research Directions</a:t>
            </a:r>
          </a:p>
        </p:txBody>
      </p:sp>
      <p:sp>
        <p:nvSpPr>
          <p:cNvPr id="3" name="TextBox 2"/>
          <p:cNvSpPr txBox="1"/>
          <p:nvPr/>
        </p:nvSpPr>
        <p:spPr>
          <a:xfrm>
            <a:off x="731520" y="1280160"/>
            <a:ext cx="5120640" cy="4937760"/>
          </a:xfrm>
          <a:prstGeom prst="rect">
            <a:avLst/>
          </a:prstGeom>
          <a:noFill/>
        </p:spPr>
        <p:txBody>
          <a:bodyPr wrap="square">
            <a:spAutoFit/>
          </a:bodyPr>
          <a:lstStyle/>
          <a:p>
            <a:pPr>
              <a:defRPr b="1" sz="1300">
                <a:solidFill>
                  <a:srgbClr val="1E3A8A"/>
                </a:solidFill>
              </a:defRPr>
            </a:pPr>
            <a:r>
              <a:t>Core Project Contributions:</a:t>
            </a:r>
          </a:p>
          <a:p>
            <a:pPr>
              <a:spcBef>
                <a:spcPts val="600"/>
              </a:spcBef>
              <a:defRPr sz="1100"/>
            </a:pPr>
            <a:r>
              <a:t>✓ First-Principles ML Framework: Built complete Linear Algebra, Statistics, Exp/Log, Preprocessing, and 3 ML model families from scratch.</a:t>
            </a:r>
          </a:p>
          <a:p>
            <a:pPr>
              <a:spcBef>
                <a:spcPts val="600"/>
              </a:spcBef>
              <a:defRPr sz="1100"/>
            </a:pPr>
            <a:r>
              <a:t>✓ Zero-Dependency Compliance: Proved that classical machine learning algorithms from first principles can be implemented in pure Python with zero external ML libraries.</a:t>
            </a:r>
          </a:p>
          <a:p>
            <a:pPr>
              <a:spcBef>
                <a:spcPts val="600"/>
              </a:spcBef>
              <a:defRPr sz="1100"/>
            </a:pPr>
            <a:r>
              <a:t>✓ Leak-Free Experimental Formulation: Addressed early academic performance and failure risk without circular data leakage.</a:t>
            </a:r>
          </a:p>
          <a:p>
            <a:pPr>
              <a:spcBef>
                <a:spcPts val="600"/>
              </a:spcBef>
              <a:defRPr sz="1100"/>
            </a:pPr>
            <a:r>
              <a:t>✓ Empirical Rigor: Demonstrated model convergence, regularized bias-variance tradeoffs, and truthfully documented performance against academic baselines.</a:t>
            </a:r>
          </a:p>
        </p:txBody>
      </p:sp>
      <p:sp>
        <p:nvSpPr>
          <p:cNvPr id="4" name="TextBox 3"/>
          <p:cNvSpPr txBox="1"/>
          <p:nvPr/>
        </p:nvSpPr>
        <p:spPr>
          <a:xfrm>
            <a:off x="6217920" y="1280160"/>
            <a:ext cx="5120640" cy="4937760"/>
          </a:xfrm>
          <a:prstGeom prst="rect">
            <a:avLst/>
          </a:prstGeom>
          <a:noFill/>
        </p:spPr>
        <p:txBody>
          <a:bodyPr wrap="square">
            <a:spAutoFit/>
          </a:bodyPr>
          <a:lstStyle/>
          <a:p>
            <a:pPr>
              <a:defRPr b="1" sz="1300">
                <a:solidFill>
                  <a:srgbClr val="1E3A8A"/>
                </a:solidFill>
              </a:defRPr>
            </a:pPr>
            <a:r>
              <a:t>Promising Future Research Extensions:</a:t>
            </a:r>
          </a:p>
          <a:p>
            <a:pPr>
              <a:spcBef>
                <a:spcPts val="600"/>
              </a:spcBef>
              <a:defRPr sz="1100"/>
            </a:pPr>
            <a:r>
              <a:t>→ Cost-Sensitive Loss Weighting: Incorporate asymmetric misclassification costs in Decision Trees to penalize false negatives more heavily than false positives.</a:t>
            </a:r>
          </a:p>
          <a:p>
            <a:pPr>
              <a:spcBef>
                <a:spcPts val="600"/>
              </a:spcBef>
              <a:defRPr sz="1100"/>
            </a:pPr>
            <a:r>
              <a:t>→ Support Vector Machines (Linear/Kernel): Implement soft-margin SVM via Sequential Minimal Optimization (SMO) from scratch.</a:t>
            </a:r>
          </a:p>
          <a:p>
            <a:pPr>
              <a:spcBef>
                <a:spcPts val="600"/>
              </a:spcBef>
              <a:defRPr sz="1100"/>
            </a:pPr>
            <a:r>
              <a:t>→ Scratch Ensemble Learning: Construct Bootstrap Aggregating (Bagging) and Random Forests to further reduce variance.</a:t>
            </a:r>
          </a:p>
          <a:p>
            <a:pPr>
              <a:spcBef>
                <a:spcPts val="600"/>
              </a:spcBef>
              <a:defRPr sz="1100"/>
            </a:pPr>
            <a:r>
              <a:t>→ Spatial Indexing (KD-Trees): Implement KD-tree spatial partitioning to accelerate KNN inference from O(N) to O(log N) for larger datasets.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